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90"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6/25/2018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6/25/2018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6/25/2018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6/25/2018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6/25/2018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2A54C80-263E-416B-A8E0-580EDEADCBDC}" type="datetimeFigureOut">
              <a:rPr lang="en-US" dirty="0"/>
              <a:t>6/25/2018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6/25/2018</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6/25/2018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6/25/2018</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068655" y="225005"/>
            <a:ext cx="10417711" cy="802129"/>
          </a:xfrm>
        </p:spPr>
        <p:txBody>
          <a:bodyPr/>
          <a:lstStyle/>
          <a:p>
            <a:pPr algn="ctr"/>
            <a:r>
              <a:rPr lang="es-GT" sz="4000" dirty="0" smtClean="0">
                <a:latin typeface="Algerian" panose="04020705040A02060702" pitchFamily="82" charset="0"/>
                <a:cs typeface="Aharoni" panose="02010803020104030203" pitchFamily="2" charset="-79"/>
              </a:rPr>
              <a:t>FUNDACION DE CAPGEMINI</a:t>
            </a:r>
            <a:endParaRPr lang="es-GT" sz="4000" dirty="0">
              <a:latin typeface="Algerian" panose="04020705040A02060702" pitchFamily="82" charset="0"/>
              <a:cs typeface="Aharoni" panose="02010803020104030203" pitchFamily="2" charset="-79"/>
            </a:endParaRPr>
          </a:p>
        </p:txBody>
      </p:sp>
      <p:sp>
        <p:nvSpPr>
          <p:cNvPr id="3" name="Subtítulo 2"/>
          <p:cNvSpPr>
            <a:spLocks noGrp="1"/>
          </p:cNvSpPr>
          <p:nvPr>
            <p:ph type="subTitle" idx="1"/>
          </p:nvPr>
        </p:nvSpPr>
        <p:spPr>
          <a:xfrm>
            <a:off x="2878665" y="3884107"/>
            <a:ext cx="6797689" cy="1617837"/>
          </a:xfrm>
        </p:spPr>
        <p:txBody>
          <a:bodyPr>
            <a:normAutofit/>
          </a:bodyPr>
          <a:lstStyle/>
          <a:p>
            <a:pPr algn="ctr"/>
            <a:r>
              <a:rPr lang="es-GT" sz="2000" dirty="0">
                <a:solidFill>
                  <a:schemeClr val="tx1"/>
                </a:solidFill>
              </a:rPr>
              <a:t>Fue fundada en 1967 por Serge Kampf, el vicepresidente actual, en Grenoble, Francia. Paul Hermelin, el presidente y consejero delegado del grupo Capgemini ha llevado a la compañía desde su nombramiento en diciembre de 2001.</a:t>
            </a:r>
          </a:p>
        </p:txBody>
      </p:sp>
      <p:pic>
        <p:nvPicPr>
          <p:cNvPr id="1026" name="Picture 2" descr="Resultado de imagen para logo de capgemin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1899" y="1027134"/>
            <a:ext cx="2855189" cy="2863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47491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nodeType="clickEffect">
                                  <p:stCondLst>
                                    <p:cond delay="0"/>
                                  </p:stCondLst>
                                  <p:childTnLst>
                                    <p:set>
                                      <p:cBhvr>
                                        <p:cTn id="24" dur="1" fill="hold">
                                          <p:stCondLst>
                                            <p:cond delay="0"/>
                                          </p:stCondLst>
                                        </p:cTn>
                                        <p:tgtEl>
                                          <p:spTgt spid="1026"/>
                                        </p:tgtEl>
                                        <p:attrNameLst>
                                          <p:attrName>style.visibility</p:attrName>
                                        </p:attrNameLst>
                                      </p:cBhvr>
                                      <p:to>
                                        <p:strVal val="visible"/>
                                      </p:to>
                                    </p:set>
                                    <p:animEffect transition="in" filter="fade">
                                      <p:cBhvr>
                                        <p:cTn id="25" dur="2000"/>
                                        <p:tgtEl>
                                          <p:spTgt spid="1026"/>
                                        </p:tgtEl>
                                      </p:cBhvr>
                                    </p:animEffect>
                                    <p:anim calcmode="lin" valueType="num">
                                      <p:cBhvr>
                                        <p:cTn id="26" dur="2000" fill="hold"/>
                                        <p:tgtEl>
                                          <p:spTgt spid="1026"/>
                                        </p:tgtEl>
                                        <p:attrNameLst>
                                          <p:attrName>ppt_w</p:attrName>
                                        </p:attrNameLst>
                                      </p:cBhvr>
                                      <p:tavLst>
                                        <p:tav tm="0" fmla="#ppt_w*sin(2.5*pi*$)">
                                          <p:val>
                                            <p:fltVal val="0"/>
                                          </p:val>
                                        </p:tav>
                                        <p:tav tm="100000">
                                          <p:val>
                                            <p:fltVal val="1"/>
                                          </p:val>
                                        </p:tav>
                                      </p:tavLst>
                                    </p:anim>
                                    <p:anim calcmode="lin" valueType="num">
                                      <p:cBhvr>
                                        <p:cTn id="27" dur="2000" fill="hold"/>
                                        <p:tgtEl>
                                          <p:spTgt spid="1026"/>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25" presetClass="emph" presetSubtype="0" fill="hold" grpId="0" nodeType="clickEffect">
                                  <p:stCondLst>
                                    <p:cond delay="0"/>
                                  </p:stCondLst>
                                  <p:childTnLst>
                                    <p:animClr clrSpc="hsl" dir="cw">
                                      <p:cBhvr override="childStyle">
                                        <p:cTn id="31" dur="500" fill="hold"/>
                                        <p:tgtEl>
                                          <p:spTgt spid="3">
                                            <p:txEl>
                                              <p:pRg st="0" end="0"/>
                                            </p:txEl>
                                          </p:spTgt>
                                        </p:tgtEl>
                                        <p:attrNameLst>
                                          <p:attrName>style.color</p:attrName>
                                        </p:attrNameLst>
                                      </p:cBhvr>
                                      <p:by>
                                        <p:hsl h="0" s="-70588" l="0"/>
                                      </p:by>
                                    </p:animClr>
                                    <p:animClr clrSpc="hsl" dir="cw">
                                      <p:cBhvr>
                                        <p:cTn id="32" dur="500" fill="hold"/>
                                        <p:tgtEl>
                                          <p:spTgt spid="3">
                                            <p:txEl>
                                              <p:pRg st="0" end="0"/>
                                            </p:txEl>
                                          </p:spTgt>
                                        </p:tgtEl>
                                        <p:attrNameLst>
                                          <p:attrName>fillcolor</p:attrName>
                                        </p:attrNameLst>
                                      </p:cBhvr>
                                      <p:by>
                                        <p:hsl h="0" s="-70588" l="0"/>
                                      </p:by>
                                    </p:animClr>
                                    <p:animClr clrSpc="hsl" dir="cw">
                                      <p:cBhvr>
                                        <p:cTn id="33" dur="500" fill="hold"/>
                                        <p:tgtEl>
                                          <p:spTgt spid="3">
                                            <p:txEl>
                                              <p:pRg st="0" end="0"/>
                                            </p:txEl>
                                          </p:spTgt>
                                        </p:tgtEl>
                                        <p:attrNameLst>
                                          <p:attrName>stroke.color</p:attrName>
                                        </p:attrNameLst>
                                      </p:cBhvr>
                                      <p:by>
                                        <p:hsl h="0" s="-70588" l="0"/>
                                      </p:by>
                                    </p:animClr>
                                    <p:set>
                                      <p:cBhvr>
                                        <p:cTn id="34" dur="500" fill="hold"/>
                                        <p:tgtEl>
                                          <p:spTgt spid="3">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52074" y="119693"/>
            <a:ext cx="8596668" cy="1320800"/>
          </a:xfrm>
        </p:spPr>
        <p:txBody>
          <a:bodyPr>
            <a:normAutofit/>
          </a:bodyPr>
          <a:lstStyle/>
          <a:p>
            <a:pPr algn="ctr"/>
            <a:r>
              <a:rPr lang="es-GT" sz="6600" dirty="0" smtClean="0">
                <a:latin typeface="Algerian" panose="04020705040A02060702" pitchFamily="82" charset="0"/>
                <a:cs typeface="Aharoni" panose="02010803020104030203" pitchFamily="2" charset="-79"/>
              </a:rPr>
              <a:t>1973 a 1974</a:t>
            </a:r>
            <a:r>
              <a:rPr lang="es-GT" sz="6600" dirty="0">
                <a:latin typeface="Algerian" panose="04020705040A02060702" pitchFamily="82" charset="0"/>
                <a:cs typeface="Aharoni" panose="02010803020104030203" pitchFamily="2" charset="-79"/>
              </a:rPr>
              <a:t> </a:t>
            </a:r>
            <a:endParaRPr lang="es-GT" sz="6600" dirty="0">
              <a:latin typeface="Algerian" panose="04020705040A02060702" pitchFamily="82" charset="0"/>
              <a:cs typeface="Aharoni" panose="02010803020104030203" pitchFamily="2" charset="-79"/>
            </a:endParaRPr>
          </a:p>
        </p:txBody>
      </p:sp>
      <p:sp>
        <p:nvSpPr>
          <p:cNvPr id="3" name="Marcador de contenido 2"/>
          <p:cNvSpPr>
            <a:spLocks noGrp="1"/>
          </p:cNvSpPr>
          <p:nvPr>
            <p:ph idx="1"/>
          </p:nvPr>
        </p:nvSpPr>
        <p:spPr>
          <a:xfrm>
            <a:off x="677334" y="1490597"/>
            <a:ext cx="8596668" cy="4550765"/>
          </a:xfrm>
        </p:spPr>
        <p:txBody>
          <a:bodyPr>
            <a:normAutofit/>
          </a:bodyPr>
          <a:lstStyle/>
          <a:p>
            <a:pPr algn="ctr"/>
            <a:r>
              <a:rPr lang="es-GT" sz="2400" dirty="0"/>
              <a:t>En 1973 Sogeti adquirió una participación mayoritaria en su principal competidor europeo de servicios de TI, CAP (Centro de Análisis y programación</a:t>
            </a:r>
            <a:r>
              <a:rPr lang="es-GT" sz="2400" dirty="0" smtClean="0"/>
              <a:t>).</a:t>
            </a:r>
          </a:p>
          <a:p>
            <a:pPr algn="ctr"/>
            <a:endParaRPr lang="es-GT" sz="2400" dirty="0" smtClean="0"/>
          </a:p>
          <a:p>
            <a:pPr algn="ctr"/>
            <a:r>
              <a:rPr lang="es-GT" sz="2400" dirty="0"/>
              <a:t>En 1974 adquirió Gemini Sogeti Computadoras Systems, una empresa estadounidense con sede en Nueva York.</a:t>
            </a:r>
          </a:p>
        </p:txBody>
      </p:sp>
    </p:spTree>
    <p:extLst>
      <p:ext uri="{BB962C8B-B14F-4D97-AF65-F5344CB8AC3E}">
        <p14:creationId xmlns:p14="http://schemas.microsoft.com/office/powerpoint/2010/main" val="180453685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2000"/>
                                        <p:tgtEl>
                                          <p:spTgt spid="3">
                                            <p:txEl>
                                              <p:pRg st="0" end="0"/>
                                            </p:txEl>
                                          </p:spTgt>
                                        </p:tgtEl>
                                      </p:cBhvr>
                                    </p:animEffect>
                                    <p:anim calcmode="lin" valueType="num">
                                      <p:cBhvr>
                                        <p:cTn id="26"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27" dur="2000" fill="hold"/>
                                        <p:tgtEl>
                                          <p:spTgt spid="3">
                                            <p:txEl>
                                              <p:pRg st="0" end="0"/>
                                            </p:txEl>
                                          </p:spTgt>
                                        </p:tgtEl>
                                        <p:attrNameLst>
                                          <p:attrName>ppt_h</p:attrName>
                                        </p:attrNameLst>
                                      </p:cBhvr>
                                      <p:tavLst>
                                        <p:tav tm="0">
                                          <p:val>
                                            <p:strVal val="#ppt_h"/>
                                          </p:val>
                                        </p:tav>
                                        <p:tav tm="100000">
                                          <p:val>
                                            <p:strVal val="#ppt_h"/>
                                          </p:val>
                                        </p:tav>
                                      </p:tavLst>
                                    </p:anim>
                                  </p:childTnLst>
                                </p:cTn>
                              </p:par>
                              <p:par>
                                <p:cTn id="28" presetID="45" presetClass="entr" presetSubtype="0" fill="hold" nodeType="with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fade">
                                      <p:cBhvr>
                                        <p:cTn id="30" dur="2000"/>
                                        <p:tgtEl>
                                          <p:spTgt spid="3">
                                            <p:txEl>
                                              <p:pRg st="2" end="2"/>
                                            </p:txEl>
                                          </p:spTgt>
                                        </p:tgtEl>
                                      </p:cBhvr>
                                    </p:animEffect>
                                    <p:anim calcmode="lin" valueType="num">
                                      <p:cBhvr>
                                        <p:cTn id="31" dur="2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32" dur="20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14080" y="0"/>
            <a:ext cx="8596668" cy="1320800"/>
          </a:xfrm>
        </p:spPr>
        <p:txBody>
          <a:bodyPr>
            <a:normAutofit/>
          </a:bodyPr>
          <a:lstStyle/>
          <a:p>
            <a:pPr algn="ctr"/>
            <a:r>
              <a:rPr lang="es-GT" sz="6600" dirty="0" smtClean="0">
                <a:latin typeface="Algerian" panose="04020705040A02060702" pitchFamily="82" charset="0"/>
                <a:cs typeface="Aharoni" panose="02010803020104030203" pitchFamily="2" charset="-79"/>
              </a:rPr>
              <a:t>1975 a 1981</a:t>
            </a:r>
            <a:endParaRPr lang="es-GT" sz="6600" dirty="0">
              <a:latin typeface="Algerian" panose="04020705040A02060702" pitchFamily="82" charset="0"/>
              <a:cs typeface="Aharoni" panose="02010803020104030203" pitchFamily="2" charset="-79"/>
            </a:endParaRPr>
          </a:p>
        </p:txBody>
      </p:sp>
      <p:sp>
        <p:nvSpPr>
          <p:cNvPr id="3" name="Marcador de contenido 2"/>
          <p:cNvSpPr>
            <a:spLocks noGrp="1"/>
          </p:cNvSpPr>
          <p:nvPr>
            <p:ph idx="1"/>
          </p:nvPr>
        </p:nvSpPr>
        <p:spPr>
          <a:xfrm>
            <a:off x="1114816" y="1215025"/>
            <a:ext cx="8597597" cy="4024672"/>
          </a:xfrm>
        </p:spPr>
        <p:txBody>
          <a:bodyPr/>
          <a:lstStyle/>
          <a:p>
            <a:r>
              <a:rPr lang="es-GT" dirty="0"/>
              <a:t>En 1975, después de haber hecho dos grandes adquisiciones de la PAC y Gemini Sistemas Informáticos, y tras la resolución de una disputa con el nombre similar CAP Reino Unido sobre el uso internacional de la denominación «PAC», Sogeti se renombró como CAP Gemini </a:t>
            </a:r>
            <a:r>
              <a:rPr lang="es-GT" dirty="0" smtClean="0"/>
              <a:t>Sogeti.</a:t>
            </a:r>
          </a:p>
          <a:p>
            <a:pPr algn="ctr"/>
            <a:r>
              <a:rPr lang="es-GT" dirty="0"/>
              <a:t>En 1981, Cap Gemini Sogeti lanzó operaciones en Estados Unidos a raíz de la adquisición de la sede en Milwaukee DASD Corporation, especializada en la conversión de datos y el empleo de 500 personas en 20 sucursales en todo los EE.UU.. Tras esta adquisición, la operación de Estados Unidos era conocido como Cap Gemini DASD.</a:t>
            </a:r>
            <a:endParaRPr lang="es-GT" dirty="0" smtClean="0"/>
          </a:p>
          <a:p>
            <a:endParaRPr lang="es-GT" dirty="0"/>
          </a:p>
        </p:txBody>
      </p:sp>
    </p:spTree>
    <p:extLst>
      <p:ext uri="{BB962C8B-B14F-4D97-AF65-F5344CB8AC3E}">
        <p14:creationId xmlns:p14="http://schemas.microsoft.com/office/powerpoint/2010/main" val="180411797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196241"/>
            <a:ext cx="8596668" cy="1320800"/>
          </a:xfrm>
        </p:spPr>
        <p:txBody>
          <a:bodyPr>
            <a:normAutofit/>
          </a:bodyPr>
          <a:lstStyle/>
          <a:p>
            <a:pPr algn="ctr"/>
            <a:r>
              <a:rPr lang="es-GT" sz="6600" dirty="0" smtClean="0">
                <a:latin typeface="Algerian" panose="04020705040A02060702" pitchFamily="82" charset="0"/>
                <a:cs typeface="Aharoni" panose="02010803020104030203" pitchFamily="2" charset="-79"/>
              </a:rPr>
              <a:t>1986 a 1991</a:t>
            </a:r>
            <a:endParaRPr lang="es-GT" sz="6600" dirty="0">
              <a:latin typeface="Algerian" panose="04020705040A02060702" pitchFamily="82" charset="0"/>
              <a:cs typeface="Aharoni" panose="02010803020104030203" pitchFamily="2" charset="-79"/>
            </a:endParaRPr>
          </a:p>
        </p:txBody>
      </p:sp>
      <p:sp>
        <p:nvSpPr>
          <p:cNvPr id="3" name="Marcador de contenido 2"/>
          <p:cNvSpPr>
            <a:spLocks noGrp="1"/>
          </p:cNvSpPr>
          <p:nvPr>
            <p:ph idx="1"/>
          </p:nvPr>
        </p:nvSpPr>
        <p:spPr>
          <a:xfrm>
            <a:off x="677334" y="1615859"/>
            <a:ext cx="8596668" cy="4425504"/>
          </a:xfrm>
        </p:spPr>
        <p:txBody>
          <a:bodyPr/>
          <a:lstStyle/>
          <a:p>
            <a:pPr marL="0" indent="0" algn="ctr">
              <a:buNone/>
            </a:pPr>
            <a:endParaRPr lang="es-GT" dirty="0" smtClean="0"/>
          </a:p>
          <a:p>
            <a:pPr marL="0" indent="0" algn="ctr">
              <a:buNone/>
            </a:pPr>
            <a:r>
              <a:rPr lang="es-GT" dirty="0" smtClean="0"/>
              <a:t>En </a:t>
            </a:r>
            <a:r>
              <a:rPr lang="es-GT" dirty="0"/>
              <a:t>1986, Cap Gemini Sogeti adquirió la división de consultoría de la </a:t>
            </a:r>
            <a:r>
              <a:rPr lang="es-GT" dirty="0" smtClean="0"/>
              <a:t>estadounidense </a:t>
            </a:r>
            <a:r>
              <a:rPr lang="es-GT" dirty="0"/>
              <a:t>CGA ordenador para crear Cap Gemini América</a:t>
            </a:r>
            <a:r>
              <a:rPr lang="es-GT" dirty="0" smtClean="0"/>
              <a:t>.</a:t>
            </a:r>
          </a:p>
          <a:p>
            <a:pPr marL="0" indent="0" algn="ctr">
              <a:buNone/>
            </a:pPr>
            <a:endParaRPr lang="es-GT" dirty="0">
              <a:solidFill>
                <a:schemeClr val="tx1"/>
              </a:solidFill>
            </a:endParaRPr>
          </a:p>
          <a:p>
            <a:pPr marL="0" indent="0" algn="ctr">
              <a:buNone/>
            </a:pPr>
            <a:r>
              <a:rPr lang="es-GT" dirty="0"/>
              <a:t>En 1991, Gemini Consulting se formó a través de la integración de las dos empresas de consultoría de gestión (Estados Investigación y el Grupo MAC)</a:t>
            </a:r>
          </a:p>
        </p:txBody>
      </p:sp>
    </p:spTree>
    <p:extLst>
      <p:ext uri="{BB962C8B-B14F-4D97-AF65-F5344CB8AC3E}">
        <p14:creationId xmlns:p14="http://schemas.microsoft.com/office/powerpoint/2010/main" val="126233737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fade">
                                      <p:cBhvr>
                                        <p:cTn id="25" dur="2000"/>
                                        <p:tgtEl>
                                          <p:spTgt spid="3">
                                            <p:txEl>
                                              <p:pRg st="1" end="1"/>
                                            </p:txEl>
                                          </p:spTgt>
                                        </p:tgtEl>
                                      </p:cBhvr>
                                    </p:animEffect>
                                    <p:anim calcmode="lin" valueType="num">
                                      <p:cBhvr>
                                        <p:cTn id="26"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27" dur="2000" fill="hold"/>
                                        <p:tgtEl>
                                          <p:spTgt spid="3">
                                            <p:txEl>
                                              <p:pRg st="1" end="1"/>
                                            </p:txEl>
                                          </p:spTgt>
                                        </p:tgtEl>
                                        <p:attrNameLst>
                                          <p:attrName>ppt_h</p:attrName>
                                        </p:attrNameLst>
                                      </p:cBhvr>
                                      <p:tavLst>
                                        <p:tav tm="0">
                                          <p:val>
                                            <p:strVal val="#ppt_h"/>
                                          </p:val>
                                        </p:tav>
                                        <p:tav tm="100000">
                                          <p:val>
                                            <p:strVal val="#ppt_h"/>
                                          </p:val>
                                        </p:tav>
                                      </p:tavLst>
                                    </p:anim>
                                  </p:childTnLst>
                                </p:cTn>
                              </p:par>
                              <p:par>
                                <p:cTn id="28" presetID="45" presetClass="entr" presetSubtype="0" fill="hold" nodeType="with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2000"/>
                                        <p:tgtEl>
                                          <p:spTgt spid="3">
                                            <p:txEl>
                                              <p:pRg st="3" end="3"/>
                                            </p:txEl>
                                          </p:spTgt>
                                        </p:tgtEl>
                                      </p:cBhvr>
                                    </p:animEffect>
                                    <p:anim calcmode="lin" valueType="num">
                                      <p:cBhvr>
                                        <p:cTn id="31" dur="2000" fill="hold"/>
                                        <p:tgtEl>
                                          <p:spTgt spid="3">
                                            <p:txEl>
                                              <p:pRg st="3" end="3"/>
                                            </p:txEl>
                                          </p:spTgt>
                                        </p:tgtEl>
                                        <p:attrNameLst>
                                          <p:attrName>ppt_w</p:attrName>
                                        </p:attrNameLst>
                                      </p:cBhvr>
                                      <p:tavLst>
                                        <p:tav tm="0" fmla="#ppt_w*sin(2.5*pi*$)">
                                          <p:val>
                                            <p:fltVal val="0"/>
                                          </p:val>
                                        </p:tav>
                                        <p:tav tm="100000">
                                          <p:val>
                                            <p:fltVal val="1"/>
                                          </p:val>
                                        </p:tav>
                                      </p:tavLst>
                                    </p:anim>
                                    <p:anim calcmode="lin" valueType="num">
                                      <p:cBhvr>
                                        <p:cTn id="32" dur="2000" fill="hold"/>
                                        <p:tgtEl>
                                          <p:spTgt spid="3">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03317" y="208767"/>
            <a:ext cx="8596668" cy="1144044"/>
          </a:xfrm>
        </p:spPr>
        <p:txBody>
          <a:bodyPr>
            <a:normAutofit/>
          </a:bodyPr>
          <a:lstStyle/>
          <a:p>
            <a:pPr algn="ctr"/>
            <a:r>
              <a:rPr lang="es-GT" sz="6600" dirty="0" smtClean="0">
                <a:latin typeface="Algerian" panose="04020705040A02060702" pitchFamily="82" charset="0"/>
                <a:cs typeface="Aharoni" panose="02010803020104030203" pitchFamily="2" charset="-79"/>
              </a:rPr>
              <a:t>1995 a 1996</a:t>
            </a:r>
            <a:endParaRPr lang="es-GT" sz="6600" dirty="0">
              <a:latin typeface="Algerian" panose="04020705040A02060702" pitchFamily="82" charset="0"/>
              <a:cs typeface="Aharoni" panose="02010803020104030203" pitchFamily="2" charset="-79"/>
            </a:endParaRPr>
          </a:p>
        </p:txBody>
      </p:sp>
      <p:sp>
        <p:nvSpPr>
          <p:cNvPr id="4" name="Rectángulo 3"/>
          <p:cNvSpPr/>
          <p:nvPr/>
        </p:nvSpPr>
        <p:spPr>
          <a:xfrm>
            <a:off x="500631" y="1701493"/>
            <a:ext cx="6096000" cy="1200329"/>
          </a:xfrm>
          <a:prstGeom prst="rect">
            <a:avLst/>
          </a:prstGeom>
        </p:spPr>
        <p:txBody>
          <a:bodyPr>
            <a:spAutoFit/>
          </a:bodyPr>
          <a:lstStyle/>
          <a:p>
            <a:pPr algn="ctr"/>
            <a:r>
              <a:rPr lang="es-GT" dirty="0"/>
              <a:t>En 1995, el Center for Business Innovation de Cap Gemini se transformó de un modelo universitario institucional para una capacidad de investigación en red bajo el liderazgo de su director Christopher Meyer (autor)</a:t>
            </a:r>
          </a:p>
        </p:txBody>
      </p:sp>
      <p:sp>
        <p:nvSpPr>
          <p:cNvPr id="5" name="Rectángulo 4"/>
          <p:cNvSpPr/>
          <p:nvPr/>
        </p:nvSpPr>
        <p:spPr>
          <a:xfrm>
            <a:off x="500631" y="3643028"/>
            <a:ext cx="6096000" cy="1200329"/>
          </a:xfrm>
          <a:prstGeom prst="rect">
            <a:avLst/>
          </a:prstGeom>
        </p:spPr>
        <p:txBody>
          <a:bodyPr>
            <a:spAutoFit/>
          </a:bodyPr>
          <a:lstStyle/>
          <a:p>
            <a:pPr algn="ctr"/>
            <a:r>
              <a:rPr lang="es-GT" dirty="0"/>
              <a:t>En 1996, el nombre fue simplificado a Cap Gemini con un nuevo logotipo del grupo. Todas las empresas que operan en todo el mundo fueron re-marca para operar como Cap Gemini.</a:t>
            </a:r>
          </a:p>
        </p:txBody>
      </p:sp>
      <p:pic>
        <p:nvPicPr>
          <p:cNvPr id="6" name="Imagen 5"/>
          <p:cNvPicPr>
            <a:picLocks noChangeAspect="1"/>
          </p:cNvPicPr>
          <p:nvPr/>
        </p:nvPicPr>
        <p:blipFill>
          <a:blip r:embed="rId2"/>
          <a:stretch>
            <a:fillRect/>
          </a:stretch>
        </p:blipFill>
        <p:spPr>
          <a:xfrm flipH="1">
            <a:off x="7277694" y="2154475"/>
            <a:ext cx="3707631" cy="3256769"/>
          </a:xfrm>
          <a:prstGeom prst="rect">
            <a:avLst/>
          </a:prstGeom>
        </p:spPr>
      </p:pic>
    </p:spTree>
    <p:extLst>
      <p:ext uri="{BB962C8B-B14F-4D97-AF65-F5344CB8AC3E}">
        <p14:creationId xmlns:p14="http://schemas.microsoft.com/office/powerpoint/2010/main" val="149940382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nodeType="click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Effect transition="in" filter="fade">
                                      <p:cBhvr>
                                        <p:cTn id="25" dur="2000"/>
                                        <p:tgtEl>
                                          <p:spTgt spid="5">
                                            <p:txEl>
                                              <p:pRg st="0" end="0"/>
                                            </p:txEl>
                                          </p:spTgt>
                                        </p:tgtEl>
                                      </p:cBhvr>
                                    </p:animEffect>
                                    <p:anim calcmode="lin" valueType="num">
                                      <p:cBhvr>
                                        <p:cTn id="26" dur="2000" fill="hold"/>
                                        <p:tgtEl>
                                          <p:spTgt spid="5">
                                            <p:txEl>
                                              <p:pRg st="0" end="0"/>
                                            </p:txEl>
                                          </p:spTgt>
                                        </p:tgtEl>
                                        <p:attrNameLst>
                                          <p:attrName>ppt_w</p:attrName>
                                        </p:attrNameLst>
                                      </p:cBhvr>
                                      <p:tavLst>
                                        <p:tav tm="0" fmla="#ppt_w*sin(2.5*pi*$)">
                                          <p:val>
                                            <p:fltVal val="0"/>
                                          </p:val>
                                        </p:tav>
                                        <p:tav tm="100000">
                                          <p:val>
                                            <p:fltVal val="1"/>
                                          </p:val>
                                        </p:tav>
                                      </p:tavLst>
                                    </p:anim>
                                    <p:anim calcmode="lin" valueType="num">
                                      <p:cBhvr>
                                        <p:cTn id="27" dur="2000" fill="hold"/>
                                        <p:tgtEl>
                                          <p:spTgt spid="5">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45" presetClass="entr" presetSubtype="0"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fade">
                                      <p:cBhvr>
                                        <p:cTn id="32" dur="2000"/>
                                        <p:tgtEl>
                                          <p:spTgt spid="4">
                                            <p:txEl>
                                              <p:pRg st="0" end="0"/>
                                            </p:txEl>
                                          </p:spTgt>
                                        </p:tgtEl>
                                      </p:cBhvr>
                                    </p:animEffect>
                                    <p:anim calcmode="lin" valueType="num">
                                      <p:cBhvr>
                                        <p:cTn id="33" dur="2000" fill="hold"/>
                                        <p:tgtEl>
                                          <p:spTgt spid="4">
                                            <p:txEl>
                                              <p:pRg st="0" end="0"/>
                                            </p:txEl>
                                          </p:spTgt>
                                        </p:tgtEl>
                                        <p:attrNameLst>
                                          <p:attrName>ppt_w</p:attrName>
                                        </p:attrNameLst>
                                      </p:cBhvr>
                                      <p:tavLst>
                                        <p:tav tm="0" fmla="#ppt_w*sin(2.5*pi*$)">
                                          <p:val>
                                            <p:fltVal val="0"/>
                                          </p:val>
                                        </p:tav>
                                        <p:tav tm="100000">
                                          <p:val>
                                            <p:fltVal val="1"/>
                                          </p:val>
                                        </p:tav>
                                      </p:tavLst>
                                    </p:anim>
                                    <p:anim calcmode="lin" valueType="num">
                                      <p:cBhvr>
                                        <p:cTn id="34" dur="2000" fill="hold"/>
                                        <p:tgtEl>
                                          <p:spTgt spid="4">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barn(inVertical)">
                                      <p:cBhvr>
                                        <p:cTn id="3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76919" y="137786"/>
            <a:ext cx="8596668" cy="995108"/>
          </a:xfrm>
        </p:spPr>
        <p:txBody>
          <a:bodyPr>
            <a:noAutofit/>
          </a:bodyPr>
          <a:lstStyle/>
          <a:p>
            <a:pPr algn="ctr"/>
            <a:r>
              <a:rPr lang="es-GT" sz="6600" dirty="0" smtClean="0">
                <a:latin typeface="Algerian" panose="04020705040A02060702" pitchFamily="82" charset="0"/>
              </a:rPr>
              <a:t>2000 a 2002</a:t>
            </a:r>
            <a:endParaRPr lang="es-GT" sz="6600" dirty="0">
              <a:latin typeface="Algerian" panose="04020705040A02060702" pitchFamily="82" charset="0"/>
            </a:endParaRPr>
          </a:p>
        </p:txBody>
      </p:sp>
      <p:sp>
        <p:nvSpPr>
          <p:cNvPr id="3" name="Marcador de texto 2"/>
          <p:cNvSpPr>
            <a:spLocks noGrp="1"/>
          </p:cNvSpPr>
          <p:nvPr>
            <p:ph type="body" idx="1"/>
          </p:nvPr>
        </p:nvSpPr>
        <p:spPr>
          <a:xfrm>
            <a:off x="476919" y="1853852"/>
            <a:ext cx="8596668" cy="4174984"/>
          </a:xfrm>
        </p:spPr>
        <p:txBody>
          <a:bodyPr>
            <a:normAutofit/>
          </a:bodyPr>
          <a:lstStyle/>
          <a:p>
            <a:pPr marL="342900" indent="-342900">
              <a:buFont typeface="Wingdings" panose="05000000000000000000" pitchFamily="2" charset="2"/>
              <a:buChar char="v"/>
            </a:pPr>
            <a:r>
              <a:rPr lang="es-GT" sz="2000" dirty="0"/>
              <a:t>En 2000, Cap Gemini Ernst &amp; Young adquirió Consulting. Al mismo tiempo se integra Gemini Consulting para formar Cap Gemini Ernst &amp; Young</a:t>
            </a:r>
            <a:r>
              <a:rPr lang="es-GT" sz="2000" dirty="0" smtClean="0"/>
              <a:t>.</a:t>
            </a:r>
          </a:p>
          <a:p>
            <a:pPr marL="342900" indent="-342900" algn="ctr">
              <a:buFont typeface="Wingdings" panose="05000000000000000000" pitchFamily="2" charset="2"/>
              <a:buChar char="v"/>
            </a:pPr>
            <a:endParaRPr lang="es-GT" sz="2000" dirty="0"/>
          </a:p>
          <a:p>
            <a:pPr marL="342900" indent="-342900">
              <a:buFont typeface="Wingdings" panose="05000000000000000000" pitchFamily="2" charset="2"/>
              <a:buChar char="v"/>
            </a:pPr>
            <a:r>
              <a:rPr lang="es-GT" sz="2000" dirty="0"/>
              <a:t>En 2002, Cap Gemini relanzó su marca Sogeti, la creación de una nueva entidad jurídica que lleva el nombre original de la compañía, con sede en Bruselas, Bélgica. La nueva compañía se centra en la entrega de servicios de TI a un rango más limitado de mercados.</a:t>
            </a:r>
            <a:endParaRPr lang="es-GT" sz="2000" dirty="0" smtClean="0"/>
          </a:p>
          <a:p>
            <a:pPr marL="342900" indent="-342900">
              <a:buFont typeface="Wingdings" panose="05000000000000000000" pitchFamily="2" charset="2"/>
              <a:buChar char="v"/>
            </a:pPr>
            <a:endParaRPr lang="es-GT" sz="2000" dirty="0"/>
          </a:p>
        </p:txBody>
      </p:sp>
    </p:spTree>
    <p:extLst>
      <p:ext uri="{BB962C8B-B14F-4D97-AF65-F5344CB8AC3E}">
        <p14:creationId xmlns:p14="http://schemas.microsoft.com/office/powerpoint/2010/main" val="9183730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2000"/>
                                        <p:tgtEl>
                                          <p:spTgt spid="3">
                                            <p:txEl>
                                              <p:pRg st="0" end="0"/>
                                            </p:txEl>
                                          </p:spTgt>
                                        </p:tgtEl>
                                      </p:cBhvr>
                                    </p:animEffect>
                                    <p:anim calcmode="lin" valueType="num">
                                      <p:cBhvr>
                                        <p:cTn id="26"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27" dur="2000" fill="hold"/>
                                        <p:tgtEl>
                                          <p:spTgt spid="3">
                                            <p:txEl>
                                              <p:pRg st="0" end="0"/>
                                            </p:txEl>
                                          </p:spTgt>
                                        </p:tgtEl>
                                        <p:attrNameLst>
                                          <p:attrName>ppt_h</p:attrName>
                                        </p:attrNameLst>
                                      </p:cBhvr>
                                      <p:tavLst>
                                        <p:tav tm="0">
                                          <p:val>
                                            <p:strVal val="#ppt_h"/>
                                          </p:val>
                                        </p:tav>
                                        <p:tav tm="100000">
                                          <p:val>
                                            <p:strVal val="#ppt_h"/>
                                          </p:val>
                                        </p:tav>
                                      </p:tavLst>
                                    </p:anim>
                                  </p:childTnLst>
                                </p:cTn>
                              </p:par>
                              <p:par>
                                <p:cTn id="28" presetID="45" presetClass="entr" presetSubtype="0" fill="hold" nodeType="with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fade">
                                      <p:cBhvr>
                                        <p:cTn id="30" dur="2000"/>
                                        <p:tgtEl>
                                          <p:spTgt spid="3">
                                            <p:txEl>
                                              <p:pRg st="2" end="2"/>
                                            </p:txEl>
                                          </p:spTgt>
                                        </p:tgtEl>
                                      </p:cBhvr>
                                    </p:animEffect>
                                    <p:anim calcmode="lin" valueType="num">
                                      <p:cBhvr>
                                        <p:cTn id="31" dur="2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32" dur="20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5" y="208188"/>
            <a:ext cx="8596668" cy="1056941"/>
          </a:xfrm>
        </p:spPr>
        <p:txBody>
          <a:bodyPr>
            <a:noAutofit/>
          </a:bodyPr>
          <a:lstStyle/>
          <a:p>
            <a:pPr algn="ctr"/>
            <a:r>
              <a:rPr lang="es-GT" sz="6600" dirty="0" smtClean="0">
                <a:latin typeface="Algerian" panose="04020705040A02060702" pitchFamily="82" charset="0"/>
              </a:rPr>
              <a:t>2003 a 2004</a:t>
            </a:r>
            <a:endParaRPr lang="es-GT" sz="6600" dirty="0">
              <a:latin typeface="Algerian" panose="04020705040A02060702" pitchFamily="82" charset="0"/>
            </a:endParaRPr>
          </a:p>
        </p:txBody>
      </p:sp>
      <p:sp>
        <p:nvSpPr>
          <p:cNvPr id="3" name="Marcador de texto 2"/>
          <p:cNvSpPr>
            <a:spLocks noGrp="1"/>
          </p:cNvSpPr>
          <p:nvPr>
            <p:ph type="body" idx="1"/>
          </p:nvPr>
        </p:nvSpPr>
        <p:spPr>
          <a:xfrm>
            <a:off x="677335" y="1590807"/>
            <a:ext cx="8596668" cy="3909777"/>
          </a:xfrm>
        </p:spPr>
        <p:txBody>
          <a:bodyPr/>
          <a:lstStyle/>
          <a:p>
            <a:pPr marL="342900" indent="-342900" algn="ctr">
              <a:buFont typeface="Wingdings" panose="05000000000000000000" pitchFamily="2" charset="2"/>
              <a:buChar char="q"/>
            </a:pPr>
            <a:endParaRPr lang="es-GT" dirty="0" smtClean="0">
              <a:solidFill>
                <a:schemeClr val="tx1"/>
              </a:solidFill>
            </a:endParaRPr>
          </a:p>
          <a:p>
            <a:pPr marL="342900" indent="-342900" algn="ctr">
              <a:buFont typeface="Wingdings" panose="05000000000000000000" pitchFamily="2" charset="2"/>
              <a:buChar char="q"/>
            </a:pPr>
            <a:r>
              <a:rPr lang="es-GT" dirty="0" smtClean="0">
                <a:solidFill>
                  <a:schemeClr val="tx1"/>
                </a:solidFill>
              </a:rPr>
              <a:t>En </a:t>
            </a:r>
            <a:r>
              <a:rPr lang="es-GT" dirty="0">
                <a:solidFill>
                  <a:schemeClr val="tx1"/>
                </a:solidFill>
              </a:rPr>
              <a:t>2003, la empresa adquirió Transiciel y fusionó las dos prácticas en </a:t>
            </a:r>
            <a:r>
              <a:rPr lang="es-GT" dirty="0" smtClean="0">
                <a:solidFill>
                  <a:schemeClr val="tx1"/>
                </a:solidFill>
              </a:rPr>
              <a:t>Sogeti-Transiciel </a:t>
            </a:r>
            <a:r>
              <a:rPr lang="es-GT" dirty="0">
                <a:solidFill>
                  <a:schemeClr val="tx1"/>
                </a:solidFill>
              </a:rPr>
              <a:t>(posteriormente consolidado dentro Sogeti en 2006</a:t>
            </a:r>
            <a:r>
              <a:rPr lang="es-GT" dirty="0" smtClean="0">
                <a:solidFill>
                  <a:schemeClr val="tx1"/>
                </a:solidFill>
              </a:rPr>
              <a:t>).</a:t>
            </a:r>
          </a:p>
          <a:p>
            <a:pPr marL="342900" indent="-342900" algn="ctr">
              <a:buFont typeface="Wingdings" panose="05000000000000000000" pitchFamily="2" charset="2"/>
              <a:buChar char="q"/>
            </a:pPr>
            <a:endParaRPr lang="es-GT" dirty="0" smtClean="0">
              <a:solidFill>
                <a:schemeClr val="tx1"/>
              </a:solidFill>
            </a:endParaRPr>
          </a:p>
          <a:p>
            <a:pPr marL="342900" indent="-342900">
              <a:buFont typeface="Wingdings" panose="05000000000000000000" pitchFamily="2" charset="2"/>
              <a:buChar char="q"/>
            </a:pPr>
            <a:r>
              <a:rPr lang="es-GT" dirty="0" smtClean="0">
                <a:solidFill>
                  <a:schemeClr val="tx1"/>
                </a:solidFill>
              </a:rPr>
              <a:t>En </a:t>
            </a:r>
            <a:r>
              <a:rPr lang="es-GT" dirty="0">
                <a:solidFill>
                  <a:schemeClr val="tx1"/>
                </a:solidFill>
              </a:rPr>
              <a:t>abril de 2004, el Grupo volvió a Capgemini (su nombre actual).</a:t>
            </a:r>
          </a:p>
        </p:txBody>
      </p:sp>
    </p:spTree>
    <p:extLst>
      <p:ext uri="{BB962C8B-B14F-4D97-AF65-F5344CB8AC3E}">
        <p14:creationId xmlns:p14="http://schemas.microsoft.com/office/powerpoint/2010/main" val="7504432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fade">
                                      <p:cBhvr>
                                        <p:cTn id="25" dur="2000"/>
                                        <p:tgtEl>
                                          <p:spTgt spid="3">
                                            <p:txEl>
                                              <p:pRg st="1" end="1"/>
                                            </p:txEl>
                                          </p:spTgt>
                                        </p:tgtEl>
                                      </p:cBhvr>
                                    </p:animEffect>
                                    <p:anim calcmode="lin" valueType="num">
                                      <p:cBhvr>
                                        <p:cTn id="26"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27" dur="2000" fill="hold"/>
                                        <p:tgtEl>
                                          <p:spTgt spid="3">
                                            <p:txEl>
                                              <p:pRg st="1" end="1"/>
                                            </p:txEl>
                                          </p:spTgt>
                                        </p:tgtEl>
                                        <p:attrNameLst>
                                          <p:attrName>ppt_h</p:attrName>
                                        </p:attrNameLst>
                                      </p:cBhvr>
                                      <p:tavLst>
                                        <p:tav tm="0">
                                          <p:val>
                                            <p:strVal val="#ppt_h"/>
                                          </p:val>
                                        </p:tav>
                                        <p:tav tm="100000">
                                          <p:val>
                                            <p:strVal val="#ppt_h"/>
                                          </p:val>
                                        </p:tav>
                                      </p:tavLst>
                                    </p:anim>
                                  </p:childTnLst>
                                </p:cTn>
                              </p:par>
                              <p:par>
                                <p:cTn id="28" presetID="45" presetClass="entr" presetSubtype="0" fill="hold" nodeType="with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2000"/>
                                        <p:tgtEl>
                                          <p:spTgt spid="3">
                                            <p:txEl>
                                              <p:pRg st="3" end="3"/>
                                            </p:txEl>
                                          </p:spTgt>
                                        </p:tgtEl>
                                      </p:cBhvr>
                                    </p:animEffect>
                                    <p:anim calcmode="lin" valueType="num">
                                      <p:cBhvr>
                                        <p:cTn id="31" dur="2000" fill="hold"/>
                                        <p:tgtEl>
                                          <p:spTgt spid="3">
                                            <p:txEl>
                                              <p:pRg st="3" end="3"/>
                                            </p:txEl>
                                          </p:spTgt>
                                        </p:tgtEl>
                                        <p:attrNameLst>
                                          <p:attrName>ppt_w</p:attrName>
                                        </p:attrNameLst>
                                      </p:cBhvr>
                                      <p:tavLst>
                                        <p:tav tm="0" fmla="#ppt_w*sin(2.5*pi*$)">
                                          <p:val>
                                            <p:fltVal val="0"/>
                                          </p:val>
                                        </p:tav>
                                        <p:tav tm="100000">
                                          <p:val>
                                            <p:fltVal val="1"/>
                                          </p:val>
                                        </p:tav>
                                      </p:tavLst>
                                    </p:anim>
                                    <p:anim calcmode="lin" valueType="num">
                                      <p:cBhvr>
                                        <p:cTn id="32" dur="2000" fill="hold"/>
                                        <p:tgtEl>
                                          <p:spTgt spid="3">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498" y="146137"/>
            <a:ext cx="8596668" cy="1320800"/>
          </a:xfrm>
        </p:spPr>
        <p:txBody>
          <a:bodyPr>
            <a:normAutofit/>
          </a:bodyPr>
          <a:lstStyle/>
          <a:p>
            <a:pPr algn="ctr"/>
            <a:r>
              <a:rPr lang="es-GT" sz="6600" dirty="0" smtClean="0">
                <a:latin typeface="Algerian" panose="04020705040A02060702" pitchFamily="82" charset="0"/>
              </a:rPr>
              <a:t>2005 a 2006</a:t>
            </a:r>
            <a:endParaRPr lang="es-GT" sz="6600" dirty="0">
              <a:latin typeface="Algerian" panose="04020705040A02060702" pitchFamily="82" charset="0"/>
            </a:endParaRPr>
          </a:p>
        </p:txBody>
      </p:sp>
      <p:sp>
        <p:nvSpPr>
          <p:cNvPr id="3" name="Marcador de contenido 2"/>
          <p:cNvSpPr>
            <a:spLocks noGrp="1"/>
          </p:cNvSpPr>
          <p:nvPr>
            <p:ph idx="1"/>
          </p:nvPr>
        </p:nvSpPr>
        <p:spPr>
          <a:xfrm>
            <a:off x="677334" y="1665963"/>
            <a:ext cx="8596668" cy="4375400"/>
          </a:xfrm>
        </p:spPr>
        <p:txBody>
          <a:bodyPr>
            <a:normAutofit/>
          </a:bodyPr>
          <a:lstStyle/>
          <a:p>
            <a:pPr algn="ctr">
              <a:buFont typeface="Wingdings" panose="05000000000000000000" pitchFamily="2" charset="2"/>
              <a:buChar char="Ø"/>
            </a:pPr>
            <a:r>
              <a:rPr lang="es-GT" sz="1600" dirty="0">
                <a:solidFill>
                  <a:schemeClr val="tx1"/>
                </a:solidFill>
              </a:rPr>
              <a:t>En el verano de 2005, debido a las grandes pérdidas financieras, Capgemini vendió su práctica de consultoría de la salud de América del Norte, incluyendo tanto las prácticas de pagadores y proveedores, a Accenture, pero conserva su práctica ciencias de la vida</a:t>
            </a:r>
            <a:r>
              <a:rPr lang="es-GT" sz="1600" dirty="0" smtClean="0">
                <a:solidFill>
                  <a:schemeClr val="tx1"/>
                </a:solidFill>
              </a:rPr>
              <a:t>.</a:t>
            </a:r>
            <a:endParaRPr lang="es-GT" sz="1600" dirty="0">
              <a:solidFill>
                <a:schemeClr val="tx1"/>
              </a:solidFill>
            </a:endParaRPr>
          </a:p>
          <a:p>
            <a:pPr>
              <a:buFont typeface="Wingdings" panose="05000000000000000000" pitchFamily="2" charset="2"/>
              <a:buChar char="Ø"/>
            </a:pPr>
            <a:r>
              <a:rPr lang="es-GT" sz="1600" dirty="0">
                <a:solidFill>
                  <a:schemeClr val="tx1"/>
                </a:solidFill>
              </a:rPr>
              <a:t>En agosto de 2006, Capgemini adquirió Futuro Ingeniería</a:t>
            </a:r>
            <a:r>
              <a:rPr lang="es-GT" sz="1600" dirty="0" smtClean="0">
                <a:solidFill>
                  <a:schemeClr val="tx1"/>
                </a:solidFill>
              </a:rPr>
              <a:t>.</a:t>
            </a:r>
          </a:p>
          <a:p>
            <a:pPr>
              <a:buFont typeface="Wingdings" panose="05000000000000000000" pitchFamily="2" charset="2"/>
              <a:buChar char="Ø"/>
            </a:pPr>
            <a:r>
              <a:rPr lang="es-GT" sz="1600" dirty="0">
                <a:solidFill>
                  <a:schemeClr val="tx1"/>
                </a:solidFill>
              </a:rPr>
              <a:t>En septiembre de 2006, Capgemini adquirió una participación del 51% en Unilever India Shared Services Limited </a:t>
            </a:r>
            <a:r>
              <a:rPr lang="es-GT" sz="1600" dirty="0" smtClean="0">
                <a:solidFill>
                  <a:schemeClr val="tx1"/>
                </a:solidFill>
              </a:rPr>
              <a:t>(Índigo), </a:t>
            </a:r>
            <a:r>
              <a:rPr lang="es-GT" sz="1600" dirty="0">
                <a:solidFill>
                  <a:schemeClr val="tx1"/>
                </a:solidFill>
              </a:rPr>
              <a:t>un proveedor de servicios financieros compartidos y servicios de cumplimiento de Sarbanes-Oxley al Grupo mundial Unilever. </a:t>
            </a:r>
            <a:r>
              <a:rPr lang="es-GT" sz="1600" dirty="0" smtClean="0">
                <a:solidFill>
                  <a:schemeClr val="tx1"/>
                </a:solidFill>
              </a:rPr>
              <a:t>Índigo </a:t>
            </a:r>
            <a:r>
              <a:rPr lang="es-GT" sz="1600" dirty="0">
                <a:solidFill>
                  <a:schemeClr val="tx1"/>
                </a:solidFill>
              </a:rPr>
              <a:t>cuenta con centros operativos en Bangalore y Chennai y emplea a aproximadamente 600 </a:t>
            </a:r>
            <a:r>
              <a:rPr lang="es-GT" sz="1600" dirty="0" smtClean="0">
                <a:solidFill>
                  <a:schemeClr val="tx1"/>
                </a:solidFill>
              </a:rPr>
              <a:t>personas.</a:t>
            </a:r>
          </a:p>
          <a:p>
            <a:pPr>
              <a:buFont typeface="Wingdings" panose="05000000000000000000" pitchFamily="2" charset="2"/>
              <a:buChar char="Ø"/>
            </a:pPr>
            <a:r>
              <a:rPr lang="es-GT" sz="1600" dirty="0">
                <a:solidFill>
                  <a:schemeClr val="tx1"/>
                </a:solidFill>
              </a:rPr>
              <a:t>En octubre de 2006, Capgemini acordó adquirir </a:t>
            </a:r>
            <a:r>
              <a:rPr lang="es-GT" sz="1600" dirty="0" err="1">
                <a:solidFill>
                  <a:schemeClr val="tx1"/>
                </a:solidFill>
              </a:rPr>
              <a:t>Kanbay</a:t>
            </a:r>
            <a:r>
              <a:rPr lang="es-GT" sz="1600" dirty="0">
                <a:solidFill>
                  <a:schemeClr val="tx1"/>
                </a:solidFill>
              </a:rPr>
              <a:t> Internacional por US $ 1.2 mil millones en efectivo ($ 29 por acción). La adquisición aumentó el personal de Capgemini India de 12.000 (que se cultiva a 26.000+ en sólo 4 años de tiempo) empleados. La fuerza actual empleado la India el 23 de octubre 2012 es de 40.00020​ La adquisición se completó el 8 de febrero de 2007.</a:t>
            </a:r>
          </a:p>
        </p:txBody>
      </p:sp>
    </p:spTree>
    <p:extLst>
      <p:ext uri="{BB962C8B-B14F-4D97-AF65-F5344CB8AC3E}">
        <p14:creationId xmlns:p14="http://schemas.microsoft.com/office/powerpoint/2010/main" val="1841287914"/>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2000"/>
                                        <p:tgtEl>
                                          <p:spTgt spid="3">
                                            <p:txEl>
                                              <p:pRg st="0" end="0"/>
                                            </p:txEl>
                                          </p:spTgt>
                                        </p:tgtEl>
                                      </p:cBhvr>
                                    </p:animEffect>
                                    <p:anim calcmode="lin" valueType="num">
                                      <p:cBhvr>
                                        <p:cTn id="26"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27" dur="2000" fill="hold"/>
                                        <p:tgtEl>
                                          <p:spTgt spid="3">
                                            <p:txEl>
                                              <p:pRg st="0" end="0"/>
                                            </p:txEl>
                                          </p:spTgt>
                                        </p:tgtEl>
                                        <p:attrNameLst>
                                          <p:attrName>ppt_h</p:attrName>
                                        </p:attrNameLst>
                                      </p:cBhvr>
                                      <p:tavLst>
                                        <p:tav tm="0">
                                          <p:val>
                                            <p:strVal val="#ppt_h"/>
                                          </p:val>
                                        </p:tav>
                                        <p:tav tm="100000">
                                          <p:val>
                                            <p:strVal val="#ppt_h"/>
                                          </p:val>
                                        </p:tav>
                                      </p:tavLst>
                                    </p:anim>
                                  </p:childTnLst>
                                </p:cTn>
                              </p:par>
                              <p:par>
                                <p:cTn id="28" presetID="45" presetClass="entr" presetSubtype="0" fill="hold"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fade">
                                      <p:cBhvr>
                                        <p:cTn id="30" dur="2000"/>
                                        <p:tgtEl>
                                          <p:spTgt spid="3">
                                            <p:txEl>
                                              <p:pRg st="1" end="1"/>
                                            </p:txEl>
                                          </p:spTgt>
                                        </p:tgtEl>
                                      </p:cBhvr>
                                    </p:animEffect>
                                    <p:anim calcmode="lin" valueType="num">
                                      <p:cBhvr>
                                        <p:cTn id="31"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32" dur="2000" fill="hold"/>
                                        <p:tgtEl>
                                          <p:spTgt spid="3">
                                            <p:txEl>
                                              <p:pRg st="1" end="1"/>
                                            </p:txEl>
                                          </p:spTgt>
                                        </p:tgtEl>
                                        <p:attrNameLst>
                                          <p:attrName>ppt_h</p:attrName>
                                        </p:attrNameLst>
                                      </p:cBhvr>
                                      <p:tavLst>
                                        <p:tav tm="0">
                                          <p:val>
                                            <p:strVal val="#ppt_h"/>
                                          </p:val>
                                        </p:tav>
                                        <p:tav tm="100000">
                                          <p:val>
                                            <p:strVal val="#ppt_h"/>
                                          </p:val>
                                        </p:tav>
                                      </p:tavLst>
                                    </p:anim>
                                  </p:childTnLst>
                                </p:cTn>
                              </p:par>
                              <p:par>
                                <p:cTn id="33" presetID="45" presetClass="entr" presetSubtype="0" fill="hold" nodeType="with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fade">
                                      <p:cBhvr>
                                        <p:cTn id="35" dur="2000"/>
                                        <p:tgtEl>
                                          <p:spTgt spid="3">
                                            <p:txEl>
                                              <p:pRg st="2" end="2"/>
                                            </p:txEl>
                                          </p:spTgt>
                                        </p:tgtEl>
                                      </p:cBhvr>
                                    </p:animEffect>
                                    <p:anim calcmode="lin" valueType="num">
                                      <p:cBhvr>
                                        <p:cTn id="36" dur="2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37" dur="2000" fill="hold"/>
                                        <p:tgtEl>
                                          <p:spTgt spid="3">
                                            <p:txEl>
                                              <p:pRg st="2" end="2"/>
                                            </p:txEl>
                                          </p:spTgt>
                                        </p:tgtEl>
                                        <p:attrNameLst>
                                          <p:attrName>ppt_h</p:attrName>
                                        </p:attrNameLst>
                                      </p:cBhvr>
                                      <p:tavLst>
                                        <p:tav tm="0">
                                          <p:val>
                                            <p:strVal val="#ppt_h"/>
                                          </p:val>
                                        </p:tav>
                                        <p:tav tm="100000">
                                          <p:val>
                                            <p:strVal val="#ppt_h"/>
                                          </p:val>
                                        </p:tav>
                                      </p:tavLst>
                                    </p:anim>
                                  </p:childTnLst>
                                </p:cTn>
                              </p:par>
                              <p:par>
                                <p:cTn id="38" presetID="45" presetClass="entr" presetSubtype="0" fill="hold" nodeType="withEffect">
                                  <p:stCondLst>
                                    <p:cond delay="0"/>
                                  </p:stCondLst>
                                  <p:childTnLst>
                                    <p:set>
                                      <p:cBhvr>
                                        <p:cTn id="39" dur="1" fill="hold">
                                          <p:stCondLst>
                                            <p:cond delay="0"/>
                                          </p:stCondLst>
                                        </p:cTn>
                                        <p:tgtEl>
                                          <p:spTgt spid="3">
                                            <p:txEl>
                                              <p:pRg st="3" end="3"/>
                                            </p:txEl>
                                          </p:spTgt>
                                        </p:tgtEl>
                                        <p:attrNameLst>
                                          <p:attrName>style.visibility</p:attrName>
                                        </p:attrNameLst>
                                      </p:cBhvr>
                                      <p:to>
                                        <p:strVal val="visible"/>
                                      </p:to>
                                    </p:set>
                                    <p:animEffect transition="in" filter="fade">
                                      <p:cBhvr>
                                        <p:cTn id="40" dur="2000"/>
                                        <p:tgtEl>
                                          <p:spTgt spid="3">
                                            <p:txEl>
                                              <p:pRg st="3" end="3"/>
                                            </p:txEl>
                                          </p:spTgt>
                                        </p:tgtEl>
                                      </p:cBhvr>
                                    </p:animEffect>
                                    <p:anim calcmode="lin" valueType="num">
                                      <p:cBhvr>
                                        <p:cTn id="41" dur="2000" fill="hold"/>
                                        <p:tgtEl>
                                          <p:spTgt spid="3">
                                            <p:txEl>
                                              <p:pRg st="3" end="3"/>
                                            </p:txEl>
                                          </p:spTgt>
                                        </p:tgtEl>
                                        <p:attrNameLst>
                                          <p:attrName>ppt_w</p:attrName>
                                        </p:attrNameLst>
                                      </p:cBhvr>
                                      <p:tavLst>
                                        <p:tav tm="0" fmla="#ppt_w*sin(2.5*pi*$)">
                                          <p:val>
                                            <p:fltVal val="0"/>
                                          </p:val>
                                        </p:tav>
                                        <p:tav tm="100000">
                                          <p:val>
                                            <p:fltVal val="1"/>
                                          </p:val>
                                        </p:tav>
                                      </p:tavLst>
                                    </p:anim>
                                    <p:anim calcmode="lin" valueType="num">
                                      <p:cBhvr>
                                        <p:cTn id="42" dur="2000" fill="hold"/>
                                        <p:tgtEl>
                                          <p:spTgt spid="3">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799" y="609600"/>
            <a:ext cx="8588203" cy="1169096"/>
          </a:xfrm>
        </p:spPr>
        <p:txBody>
          <a:bodyPr>
            <a:normAutofit/>
          </a:bodyPr>
          <a:lstStyle/>
          <a:p>
            <a:pPr algn="ctr"/>
            <a:r>
              <a:rPr lang="es-GT" sz="6600" dirty="0" smtClean="0">
                <a:latin typeface="Algerian" panose="04020705040A02060702" pitchFamily="82" charset="0"/>
              </a:rPr>
              <a:t>2007 a 2008</a:t>
            </a:r>
            <a:endParaRPr lang="es-GT" sz="6600" dirty="0">
              <a:latin typeface="Algerian" panose="04020705040A02060702" pitchFamily="82" charset="0"/>
            </a:endParaRPr>
          </a:p>
        </p:txBody>
      </p:sp>
      <p:sp>
        <p:nvSpPr>
          <p:cNvPr id="5" name="Rectángulo 4"/>
          <p:cNvSpPr/>
          <p:nvPr/>
        </p:nvSpPr>
        <p:spPr>
          <a:xfrm>
            <a:off x="786007" y="1952014"/>
            <a:ext cx="9059450" cy="923330"/>
          </a:xfrm>
          <a:prstGeom prst="rect">
            <a:avLst/>
          </a:prstGeom>
        </p:spPr>
        <p:txBody>
          <a:bodyPr wrap="square">
            <a:spAutoFit/>
          </a:bodyPr>
          <a:lstStyle/>
          <a:p>
            <a:pPr marL="285750" indent="-285750">
              <a:buFont typeface="Arial" panose="020B0604020202020204" pitchFamily="34" charset="0"/>
              <a:buChar char="•"/>
            </a:pPr>
            <a:r>
              <a:rPr lang="es-GT" dirty="0"/>
              <a:t>El 8 de febrero de 2007, Capgemini ha anunciado la adquisición de Arquitectos de Software, una empresa de consultoría con sede en EE.UU., para expandir su negocio en Estados Unidos.</a:t>
            </a:r>
          </a:p>
        </p:txBody>
      </p:sp>
      <p:sp>
        <p:nvSpPr>
          <p:cNvPr id="6" name="Rectángulo 5"/>
          <p:cNvSpPr/>
          <p:nvPr/>
        </p:nvSpPr>
        <p:spPr>
          <a:xfrm>
            <a:off x="685799" y="2875344"/>
            <a:ext cx="8959242" cy="3139321"/>
          </a:xfrm>
          <a:prstGeom prst="rect">
            <a:avLst/>
          </a:prstGeom>
        </p:spPr>
        <p:txBody>
          <a:bodyPr wrap="square">
            <a:spAutoFit/>
          </a:bodyPr>
          <a:lstStyle/>
          <a:p>
            <a:pPr marL="285750" indent="-285750">
              <a:buFont typeface="Arial" panose="020B0604020202020204" pitchFamily="34" charset="0"/>
              <a:buChar char="•"/>
            </a:pPr>
            <a:r>
              <a:rPr lang="es-GT" dirty="0" smtClean="0"/>
              <a:t>El 25 </a:t>
            </a:r>
            <a:r>
              <a:rPr lang="es-GT" dirty="0"/>
              <a:t>de julio de 2008, Capgemini ha anunciado la adquisición de Getronics Aplicaciones PinkRoccade negocio Services BV22​ de los Países Bajos. La adquisición ascendió a un valor patrimonial de € 255 millones pagados en efectivo</a:t>
            </a:r>
            <a:r>
              <a:rPr lang="es-GT" dirty="0" smtClean="0"/>
              <a:t>.</a:t>
            </a:r>
          </a:p>
          <a:p>
            <a:pPr algn="ctr"/>
            <a:endParaRPr lang="es-GT" dirty="0"/>
          </a:p>
          <a:p>
            <a:pPr marL="285750" indent="-285750">
              <a:buFont typeface="Arial" panose="020B0604020202020204" pitchFamily="34" charset="0"/>
              <a:buChar char="•"/>
            </a:pPr>
            <a:r>
              <a:rPr lang="es-GT" dirty="0"/>
              <a:t>En octubre de 2008, Capgemini adquiere especialista Prueba UK Vizuri</a:t>
            </a:r>
            <a:r>
              <a:rPr lang="es-GT" dirty="0" smtClean="0"/>
              <a:t>.</a:t>
            </a:r>
          </a:p>
          <a:p>
            <a:pPr algn="ctr"/>
            <a:endParaRPr lang="es-GT" dirty="0"/>
          </a:p>
          <a:p>
            <a:pPr marL="285750" indent="-285750">
              <a:buFont typeface="Arial" panose="020B0604020202020204" pitchFamily="34" charset="0"/>
              <a:buChar char="•"/>
            </a:pPr>
            <a:r>
              <a:rPr lang="es-GT" dirty="0"/>
              <a:t>En noviembre de 2008, Capgemini adquiere Imperio y </a:t>
            </a:r>
            <a:r>
              <a:rPr lang="es-GT" dirty="0" err="1"/>
              <a:t>Sophia</a:t>
            </a:r>
            <a:r>
              <a:rPr lang="es-GT" dirty="0"/>
              <a:t> Soluciones para reforzar su presencia en Europa del Este.</a:t>
            </a:r>
            <a:endParaRPr lang="es-GT" dirty="0" smtClean="0"/>
          </a:p>
          <a:p>
            <a:pPr algn="ctr"/>
            <a:endParaRPr lang="es-GT" dirty="0"/>
          </a:p>
          <a:p>
            <a:endParaRPr lang="es-GT" dirty="0"/>
          </a:p>
        </p:txBody>
      </p:sp>
    </p:spTree>
    <p:extLst>
      <p:ext uri="{BB962C8B-B14F-4D97-AF65-F5344CB8AC3E}">
        <p14:creationId xmlns:p14="http://schemas.microsoft.com/office/powerpoint/2010/main" val="45572196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1000"/>
                                        <p:tgtEl>
                                          <p:spTgt spid="6">
                                            <p:txEl>
                                              <p:pRg st="0" end="0"/>
                                            </p:txEl>
                                          </p:spTgt>
                                        </p:tgtEl>
                                      </p:cBhvr>
                                    </p:animEffect>
                                    <p:anim calcmode="lin" valueType="num">
                                      <p:cBhvr>
                                        <p:cTn id="1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1000"/>
                                        <p:tgtEl>
                                          <p:spTgt spid="6">
                                            <p:txEl>
                                              <p:pRg st="2" end="2"/>
                                            </p:txEl>
                                          </p:spTgt>
                                        </p:tgtEl>
                                      </p:cBhvr>
                                    </p:animEffect>
                                    <p:anim calcmode="lin" valueType="num">
                                      <p:cBhvr>
                                        <p:cTn id="23"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1000"/>
                                        <p:tgtEl>
                                          <p:spTgt spid="6">
                                            <p:txEl>
                                              <p:pRg st="4" end="4"/>
                                            </p:txEl>
                                          </p:spTgt>
                                        </p:tgtEl>
                                      </p:cBhvr>
                                    </p:animEffect>
                                    <p:anim calcmode="lin" valueType="num">
                                      <p:cBhvr>
                                        <p:cTn id="28"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308976"/>
            <a:ext cx="8441614" cy="943627"/>
          </a:xfrm>
        </p:spPr>
        <p:txBody>
          <a:bodyPr>
            <a:normAutofit fontScale="90000"/>
          </a:bodyPr>
          <a:lstStyle/>
          <a:p>
            <a:pPr algn="ctr"/>
            <a:r>
              <a:rPr lang="es-GT" sz="6600" dirty="0" smtClean="0">
                <a:latin typeface="Algerian" panose="04020705040A02060702" pitchFamily="82" charset="0"/>
              </a:rPr>
              <a:t>2009 a 20010</a:t>
            </a:r>
            <a:endParaRPr lang="es-GT" sz="6600" dirty="0">
              <a:latin typeface="Algerian" panose="04020705040A02060702" pitchFamily="82" charset="0"/>
            </a:endParaRPr>
          </a:p>
        </p:txBody>
      </p:sp>
      <p:sp>
        <p:nvSpPr>
          <p:cNvPr id="3" name="Marcador de contenido 2"/>
          <p:cNvSpPr>
            <a:spLocks noGrp="1"/>
          </p:cNvSpPr>
          <p:nvPr>
            <p:ph idx="1"/>
          </p:nvPr>
        </p:nvSpPr>
        <p:spPr>
          <a:xfrm>
            <a:off x="677334" y="1252603"/>
            <a:ext cx="8596668" cy="4684733"/>
          </a:xfrm>
        </p:spPr>
        <p:txBody>
          <a:bodyPr>
            <a:normAutofit fontScale="92500" lnSpcReduction="10000"/>
          </a:bodyPr>
          <a:lstStyle/>
          <a:p>
            <a:r>
              <a:rPr lang="es-GT" dirty="0"/>
              <a:t>En septiembre de 2009, Capgemini Australia adquiere Soluciones Nu; refuerza la experiencia de pruebas de software</a:t>
            </a:r>
            <a:r>
              <a:rPr lang="es-GT" dirty="0" smtClean="0"/>
              <a:t>.</a:t>
            </a:r>
          </a:p>
          <a:p>
            <a:r>
              <a:rPr lang="es-GT" dirty="0"/>
              <a:t>En febrero de 2010, Capgemini ha anunciado la adquisición de </a:t>
            </a:r>
            <a:r>
              <a:rPr lang="es-GT" dirty="0" smtClean="0"/>
              <a:t>PBX</a:t>
            </a:r>
          </a:p>
          <a:p>
            <a:r>
              <a:rPr lang="es-GT" dirty="0"/>
              <a:t>En junio de 2010, Capgemini ha anunciado la adquisición de Sistemas Estratégicos </a:t>
            </a:r>
            <a:r>
              <a:rPr lang="es-GT" dirty="0" smtClean="0"/>
              <a:t>Solutions, </a:t>
            </a:r>
            <a:r>
              <a:rPr lang="es-GT" dirty="0"/>
              <a:t>una pequeña empresa especializada en el mercado de capitales.27​</a:t>
            </a:r>
          </a:p>
          <a:p>
            <a:r>
              <a:rPr lang="es-GT" dirty="0"/>
              <a:t>En junio de 2010, Capgemini ha anunciado la adquisición de Plaisir de Informática, una empresa francesa especializada en migraciones de datos complejos en el sector bancario y de seguros.28​</a:t>
            </a:r>
          </a:p>
          <a:p>
            <a:r>
              <a:rPr lang="es-GT" dirty="0"/>
              <a:t>En septiembre de 2010, Capgemini ha anunciado la adquisición de CPM Braxis, la mayor empresa consultora brasileña de TI.29​</a:t>
            </a:r>
          </a:p>
          <a:p>
            <a:r>
              <a:rPr lang="es-GT" dirty="0"/>
              <a:t>En noviembre de 2010, Capgemini ha anunciado que ha adquirido la empresa de servicios de TI con sede en India, Thesys Technologies </a:t>
            </a:r>
            <a:r>
              <a:rPr lang="es-GT" dirty="0" smtClean="0"/>
              <a:t>Prívate </a:t>
            </a:r>
            <a:r>
              <a:rPr lang="es-GT" dirty="0"/>
              <a:t>Limited ("Thesys"), un socio de Servicios de </a:t>
            </a:r>
            <a:r>
              <a:rPr lang="es-GT" dirty="0" smtClean="0"/>
              <a:t>Certificación-Tenemos </a:t>
            </a:r>
            <a:r>
              <a:rPr lang="es-GT" dirty="0"/>
              <a:t>que proporciona soluciones de implementación bancario para la industria global de servicios financieros.30​</a:t>
            </a:r>
          </a:p>
          <a:p>
            <a:r>
              <a:rPr lang="es-GT" dirty="0"/>
              <a:t>En diciembre de 2010, Capgemini adquiere proveedor de IT-Services alemán CS Consulting GmbH.</a:t>
            </a:r>
          </a:p>
        </p:txBody>
      </p:sp>
    </p:spTree>
    <p:extLst>
      <p:ext uri="{BB962C8B-B14F-4D97-AF65-F5344CB8AC3E}">
        <p14:creationId xmlns:p14="http://schemas.microsoft.com/office/powerpoint/2010/main" val="324481970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2000"/>
                                        <p:tgtEl>
                                          <p:spTgt spid="3">
                                            <p:txEl>
                                              <p:pRg st="0" end="0"/>
                                            </p:txEl>
                                          </p:spTgt>
                                        </p:tgtEl>
                                      </p:cBhvr>
                                    </p:animEffect>
                                    <p:anim calcmode="lin" valueType="num">
                                      <p:cBhvr>
                                        <p:cTn id="26"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27" dur="2000" fill="hold"/>
                                        <p:tgtEl>
                                          <p:spTgt spid="3">
                                            <p:txEl>
                                              <p:pRg st="0" end="0"/>
                                            </p:txEl>
                                          </p:spTgt>
                                        </p:tgtEl>
                                        <p:attrNameLst>
                                          <p:attrName>ppt_h</p:attrName>
                                        </p:attrNameLst>
                                      </p:cBhvr>
                                      <p:tavLst>
                                        <p:tav tm="0">
                                          <p:val>
                                            <p:strVal val="#ppt_h"/>
                                          </p:val>
                                        </p:tav>
                                        <p:tav tm="100000">
                                          <p:val>
                                            <p:strVal val="#ppt_h"/>
                                          </p:val>
                                        </p:tav>
                                      </p:tavLst>
                                    </p:anim>
                                  </p:childTnLst>
                                </p:cTn>
                              </p:par>
                              <p:par>
                                <p:cTn id="28" presetID="45" presetClass="entr" presetSubtype="0" fill="hold"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fade">
                                      <p:cBhvr>
                                        <p:cTn id="30" dur="2000"/>
                                        <p:tgtEl>
                                          <p:spTgt spid="3">
                                            <p:txEl>
                                              <p:pRg st="1" end="1"/>
                                            </p:txEl>
                                          </p:spTgt>
                                        </p:tgtEl>
                                      </p:cBhvr>
                                    </p:animEffect>
                                    <p:anim calcmode="lin" valueType="num">
                                      <p:cBhvr>
                                        <p:cTn id="31"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32" dur="2000" fill="hold"/>
                                        <p:tgtEl>
                                          <p:spTgt spid="3">
                                            <p:txEl>
                                              <p:pRg st="1" end="1"/>
                                            </p:txEl>
                                          </p:spTgt>
                                        </p:tgtEl>
                                        <p:attrNameLst>
                                          <p:attrName>ppt_h</p:attrName>
                                        </p:attrNameLst>
                                      </p:cBhvr>
                                      <p:tavLst>
                                        <p:tav tm="0">
                                          <p:val>
                                            <p:strVal val="#ppt_h"/>
                                          </p:val>
                                        </p:tav>
                                        <p:tav tm="100000">
                                          <p:val>
                                            <p:strVal val="#ppt_h"/>
                                          </p:val>
                                        </p:tav>
                                      </p:tavLst>
                                    </p:anim>
                                  </p:childTnLst>
                                </p:cTn>
                              </p:par>
                              <p:par>
                                <p:cTn id="33" presetID="45" presetClass="entr" presetSubtype="0" fill="hold" nodeType="with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fade">
                                      <p:cBhvr>
                                        <p:cTn id="35" dur="2000"/>
                                        <p:tgtEl>
                                          <p:spTgt spid="3">
                                            <p:txEl>
                                              <p:pRg st="2" end="2"/>
                                            </p:txEl>
                                          </p:spTgt>
                                        </p:tgtEl>
                                      </p:cBhvr>
                                    </p:animEffect>
                                    <p:anim calcmode="lin" valueType="num">
                                      <p:cBhvr>
                                        <p:cTn id="36" dur="2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37" dur="2000" fill="hold"/>
                                        <p:tgtEl>
                                          <p:spTgt spid="3">
                                            <p:txEl>
                                              <p:pRg st="2" end="2"/>
                                            </p:txEl>
                                          </p:spTgt>
                                        </p:tgtEl>
                                        <p:attrNameLst>
                                          <p:attrName>ppt_h</p:attrName>
                                        </p:attrNameLst>
                                      </p:cBhvr>
                                      <p:tavLst>
                                        <p:tav tm="0">
                                          <p:val>
                                            <p:strVal val="#ppt_h"/>
                                          </p:val>
                                        </p:tav>
                                        <p:tav tm="100000">
                                          <p:val>
                                            <p:strVal val="#ppt_h"/>
                                          </p:val>
                                        </p:tav>
                                      </p:tavLst>
                                    </p:anim>
                                  </p:childTnLst>
                                </p:cTn>
                              </p:par>
                              <p:par>
                                <p:cTn id="38" presetID="45" presetClass="entr" presetSubtype="0" fill="hold" nodeType="withEffect">
                                  <p:stCondLst>
                                    <p:cond delay="0"/>
                                  </p:stCondLst>
                                  <p:childTnLst>
                                    <p:set>
                                      <p:cBhvr>
                                        <p:cTn id="39" dur="1" fill="hold">
                                          <p:stCondLst>
                                            <p:cond delay="0"/>
                                          </p:stCondLst>
                                        </p:cTn>
                                        <p:tgtEl>
                                          <p:spTgt spid="3">
                                            <p:txEl>
                                              <p:pRg st="3" end="3"/>
                                            </p:txEl>
                                          </p:spTgt>
                                        </p:tgtEl>
                                        <p:attrNameLst>
                                          <p:attrName>style.visibility</p:attrName>
                                        </p:attrNameLst>
                                      </p:cBhvr>
                                      <p:to>
                                        <p:strVal val="visible"/>
                                      </p:to>
                                    </p:set>
                                    <p:animEffect transition="in" filter="fade">
                                      <p:cBhvr>
                                        <p:cTn id="40" dur="2000"/>
                                        <p:tgtEl>
                                          <p:spTgt spid="3">
                                            <p:txEl>
                                              <p:pRg st="3" end="3"/>
                                            </p:txEl>
                                          </p:spTgt>
                                        </p:tgtEl>
                                      </p:cBhvr>
                                    </p:animEffect>
                                    <p:anim calcmode="lin" valueType="num">
                                      <p:cBhvr>
                                        <p:cTn id="41" dur="2000" fill="hold"/>
                                        <p:tgtEl>
                                          <p:spTgt spid="3">
                                            <p:txEl>
                                              <p:pRg st="3" end="3"/>
                                            </p:txEl>
                                          </p:spTgt>
                                        </p:tgtEl>
                                        <p:attrNameLst>
                                          <p:attrName>ppt_w</p:attrName>
                                        </p:attrNameLst>
                                      </p:cBhvr>
                                      <p:tavLst>
                                        <p:tav tm="0" fmla="#ppt_w*sin(2.5*pi*$)">
                                          <p:val>
                                            <p:fltVal val="0"/>
                                          </p:val>
                                        </p:tav>
                                        <p:tav tm="100000">
                                          <p:val>
                                            <p:fltVal val="1"/>
                                          </p:val>
                                        </p:tav>
                                      </p:tavLst>
                                    </p:anim>
                                    <p:anim calcmode="lin" valueType="num">
                                      <p:cBhvr>
                                        <p:cTn id="42" dur="2000" fill="hold"/>
                                        <p:tgtEl>
                                          <p:spTgt spid="3">
                                            <p:txEl>
                                              <p:pRg st="3" end="3"/>
                                            </p:txEl>
                                          </p:spTgt>
                                        </p:tgtEl>
                                        <p:attrNameLst>
                                          <p:attrName>ppt_h</p:attrName>
                                        </p:attrNameLst>
                                      </p:cBhvr>
                                      <p:tavLst>
                                        <p:tav tm="0">
                                          <p:val>
                                            <p:strVal val="#ppt_h"/>
                                          </p:val>
                                        </p:tav>
                                        <p:tav tm="100000">
                                          <p:val>
                                            <p:strVal val="#ppt_h"/>
                                          </p:val>
                                        </p:tav>
                                      </p:tavLst>
                                    </p:anim>
                                  </p:childTnLst>
                                </p:cTn>
                              </p:par>
                              <p:par>
                                <p:cTn id="43" presetID="45" presetClass="entr" presetSubtype="0" fill="hold" nodeType="with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animEffect transition="in" filter="fade">
                                      <p:cBhvr>
                                        <p:cTn id="45" dur="2000"/>
                                        <p:tgtEl>
                                          <p:spTgt spid="3">
                                            <p:txEl>
                                              <p:pRg st="4" end="4"/>
                                            </p:txEl>
                                          </p:spTgt>
                                        </p:tgtEl>
                                      </p:cBhvr>
                                    </p:animEffect>
                                    <p:anim calcmode="lin" valueType="num">
                                      <p:cBhvr>
                                        <p:cTn id="46" dur="2000" fill="hold"/>
                                        <p:tgtEl>
                                          <p:spTgt spid="3">
                                            <p:txEl>
                                              <p:pRg st="4" end="4"/>
                                            </p:txEl>
                                          </p:spTgt>
                                        </p:tgtEl>
                                        <p:attrNameLst>
                                          <p:attrName>ppt_w</p:attrName>
                                        </p:attrNameLst>
                                      </p:cBhvr>
                                      <p:tavLst>
                                        <p:tav tm="0" fmla="#ppt_w*sin(2.5*pi*$)">
                                          <p:val>
                                            <p:fltVal val="0"/>
                                          </p:val>
                                        </p:tav>
                                        <p:tav tm="100000">
                                          <p:val>
                                            <p:fltVal val="1"/>
                                          </p:val>
                                        </p:tav>
                                      </p:tavLst>
                                    </p:anim>
                                    <p:anim calcmode="lin" valueType="num">
                                      <p:cBhvr>
                                        <p:cTn id="47" dur="2000" fill="hold"/>
                                        <p:tgtEl>
                                          <p:spTgt spid="3">
                                            <p:txEl>
                                              <p:pRg st="4" end="4"/>
                                            </p:txEl>
                                          </p:spTgt>
                                        </p:tgtEl>
                                        <p:attrNameLst>
                                          <p:attrName>ppt_h</p:attrName>
                                        </p:attrNameLst>
                                      </p:cBhvr>
                                      <p:tavLst>
                                        <p:tav tm="0">
                                          <p:val>
                                            <p:strVal val="#ppt_h"/>
                                          </p:val>
                                        </p:tav>
                                        <p:tav tm="100000">
                                          <p:val>
                                            <p:strVal val="#ppt_h"/>
                                          </p:val>
                                        </p:tav>
                                      </p:tavLst>
                                    </p:anim>
                                  </p:childTnLst>
                                </p:cTn>
                              </p:par>
                              <p:par>
                                <p:cTn id="48" presetID="45" presetClass="entr" presetSubtype="0" fill="hold" nodeType="withEffect">
                                  <p:stCondLst>
                                    <p:cond delay="0"/>
                                  </p:stCondLst>
                                  <p:childTnLst>
                                    <p:set>
                                      <p:cBhvr>
                                        <p:cTn id="49" dur="1" fill="hold">
                                          <p:stCondLst>
                                            <p:cond delay="0"/>
                                          </p:stCondLst>
                                        </p:cTn>
                                        <p:tgtEl>
                                          <p:spTgt spid="3">
                                            <p:txEl>
                                              <p:pRg st="5" end="5"/>
                                            </p:txEl>
                                          </p:spTgt>
                                        </p:tgtEl>
                                        <p:attrNameLst>
                                          <p:attrName>style.visibility</p:attrName>
                                        </p:attrNameLst>
                                      </p:cBhvr>
                                      <p:to>
                                        <p:strVal val="visible"/>
                                      </p:to>
                                    </p:set>
                                    <p:animEffect transition="in" filter="fade">
                                      <p:cBhvr>
                                        <p:cTn id="50" dur="2000"/>
                                        <p:tgtEl>
                                          <p:spTgt spid="3">
                                            <p:txEl>
                                              <p:pRg st="5" end="5"/>
                                            </p:txEl>
                                          </p:spTgt>
                                        </p:tgtEl>
                                      </p:cBhvr>
                                    </p:animEffect>
                                    <p:anim calcmode="lin" valueType="num">
                                      <p:cBhvr>
                                        <p:cTn id="51" dur="2000" fill="hold"/>
                                        <p:tgtEl>
                                          <p:spTgt spid="3">
                                            <p:txEl>
                                              <p:pRg st="5" end="5"/>
                                            </p:txEl>
                                          </p:spTgt>
                                        </p:tgtEl>
                                        <p:attrNameLst>
                                          <p:attrName>ppt_w</p:attrName>
                                        </p:attrNameLst>
                                      </p:cBhvr>
                                      <p:tavLst>
                                        <p:tav tm="0" fmla="#ppt_w*sin(2.5*pi*$)">
                                          <p:val>
                                            <p:fltVal val="0"/>
                                          </p:val>
                                        </p:tav>
                                        <p:tav tm="100000">
                                          <p:val>
                                            <p:fltVal val="1"/>
                                          </p:val>
                                        </p:tav>
                                      </p:tavLst>
                                    </p:anim>
                                    <p:anim calcmode="lin" valueType="num">
                                      <p:cBhvr>
                                        <p:cTn id="52" dur="2000" fill="hold"/>
                                        <p:tgtEl>
                                          <p:spTgt spid="3">
                                            <p:txEl>
                                              <p:pRg st="5" end="5"/>
                                            </p:txEl>
                                          </p:spTgt>
                                        </p:tgtEl>
                                        <p:attrNameLst>
                                          <p:attrName>ppt_h</p:attrName>
                                        </p:attrNameLst>
                                      </p:cBhvr>
                                      <p:tavLst>
                                        <p:tav tm="0">
                                          <p:val>
                                            <p:strVal val="#ppt_h"/>
                                          </p:val>
                                        </p:tav>
                                        <p:tav tm="100000">
                                          <p:val>
                                            <p:strVal val="#ppt_h"/>
                                          </p:val>
                                        </p:tav>
                                      </p:tavLst>
                                    </p:anim>
                                  </p:childTnLst>
                                </p:cTn>
                              </p:par>
                              <p:par>
                                <p:cTn id="53" presetID="45" presetClass="entr" presetSubtype="0" fill="hold" nodeType="with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2000"/>
                                        <p:tgtEl>
                                          <p:spTgt spid="3">
                                            <p:txEl>
                                              <p:pRg st="6" end="6"/>
                                            </p:txEl>
                                          </p:spTgt>
                                        </p:tgtEl>
                                      </p:cBhvr>
                                    </p:animEffect>
                                    <p:anim calcmode="lin" valueType="num">
                                      <p:cBhvr>
                                        <p:cTn id="56" dur="2000" fill="hold"/>
                                        <p:tgtEl>
                                          <p:spTgt spid="3">
                                            <p:txEl>
                                              <p:pRg st="6" end="6"/>
                                            </p:txEl>
                                          </p:spTgt>
                                        </p:tgtEl>
                                        <p:attrNameLst>
                                          <p:attrName>ppt_w</p:attrName>
                                        </p:attrNameLst>
                                      </p:cBhvr>
                                      <p:tavLst>
                                        <p:tav tm="0" fmla="#ppt_w*sin(2.5*pi*$)">
                                          <p:val>
                                            <p:fltVal val="0"/>
                                          </p:val>
                                        </p:tav>
                                        <p:tav tm="100000">
                                          <p:val>
                                            <p:fltVal val="1"/>
                                          </p:val>
                                        </p:tav>
                                      </p:tavLst>
                                    </p:anim>
                                    <p:anim calcmode="lin" valueType="num">
                                      <p:cBhvr>
                                        <p:cTn id="57" dur="2000" fill="hold"/>
                                        <p:tgtEl>
                                          <p:spTgt spid="3">
                                            <p:txEl>
                                              <p:pRg st="6" end="6"/>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246345"/>
            <a:ext cx="8028255" cy="918575"/>
          </a:xfrm>
        </p:spPr>
        <p:txBody>
          <a:bodyPr>
            <a:normAutofit fontScale="90000"/>
          </a:bodyPr>
          <a:lstStyle/>
          <a:p>
            <a:pPr algn="ctr"/>
            <a:r>
              <a:rPr lang="es-GT" sz="6600" dirty="0" smtClean="0">
                <a:latin typeface="Algerian" panose="04020705040A02060702" pitchFamily="82" charset="0"/>
              </a:rPr>
              <a:t>2011</a:t>
            </a:r>
            <a:endParaRPr lang="es-GT" sz="6600" dirty="0">
              <a:latin typeface="Algerian" panose="04020705040A02060702" pitchFamily="82" charset="0"/>
            </a:endParaRPr>
          </a:p>
        </p:txBody>
      </p:sp>
      <p:sp>
        <p:nvSpPr>
          <p:cNvPr id="3" name="Marcador de contenido 2"/>
          <p:cNvSpPr>
            <a:spLocks noGrp="1"/>
          </p:cNvSpPr>
          <p:nvPr>
            <p:ph idx="1"/>
          </p:nvPr>
        </p:nvSpPr>
        <p:spPr>
          <a:xfrm>
            <a:off x="677334" y="1277655"/>
            <a:ext cx="8596668" cy="4763707"/>
          </a:xfrm>
        </p:spPr>
        <p:txBody>
          <a:bodyPr>
            <a:normAutofit fontScale="85000" lnSpcReduction="10000"/>
          </a:bodyPr>
          <a:lstStyle/>
          <a:p>
            <a:r>
              <a:rPr lang="es-GT" dirty="0"/>
              <a:t>En febrero de 2011, la Autoridad de Policía de Cheshire firmó un acuerdo marco con Capgemini para servicios de TI para apoyar las actividades de back-office policial. El marco incluiría la tecnología para permitir a los servicios compartidos. Se espera que genere un ahorro de £ 40 millones para la policía de Cheshire en diez </a:t>
            </a:r>
            <a:r>
              <a:rPr lang="es-GT" dirty="0" smtClean="0"/>
              <a:t>años.</a:t>
            </a:r>
          </a:p>
          <a:p>
            <a:r>
              <a:rPr lang="es-GT" dirty="0" smtClean="0"/>
              <a:t>En febrero de 2011, Capgemini consiguió un contrato de tres años 63 millones dólares para prestar apoyo a los contadores inteligentes para utilidad de Canadá BC Hydro en la Columbia Británica.</a:t>
            </a:r>
          </a:p>
          <a:p>
            <a:r>
              <a:rPr lang="es-GT" dirty="0" smtClean="0"/>
              <a:t>En </a:t>
            </a:r>
            <a:r>
              <a:rPr lang="es-GT" dirty="0"/>
              <a:t>marzo de 2011, Capgemini aseguró un contrato £ 100 millones con BAA a toma de posesión de sus "servicios de TI fundamentales</a:t>
            </a:r>
            <a:r>
              <a:rPr lang="es-GT" dirty="0" smtClean="0"/>
              <a:t>.​</a:t>
            </a:r>
          </a:p>
          <a:p>
            <a:r>
              <a:rPr lang="es-GT" dirty="0" smtClean="0"/>
              <a:t>En abril de 2011, Capgemini adquirió dos empresas francesas, Artesys, un proveedor de oferta de infraestructura de TI, y Avantias, un proveedor de gestión de contenidos empresariales a las empresas.</a:t>
            </a:r>
          </a:p>
          <a:p>
            <a:r>
              <a:rPr lang="es-GT" dirty="0" smtClean="0"/>
              <a:t>En </a:t>
            </a:r>
            <a:r>
              <a:rPr lang="es-GT" dirty="0"/>
              <a:t>junio de 2011, Capgemini finalizó su adquisición de Prosodie, el operador de servicios </a:t>
            </a:r>
            <a:r>
              <a:rPr lang="es-GT" dirty="0" smtClean="0"/>
              <a:t>multicanal.</a:t>
            </a:r>
            <a:endParaRPr lang="es-GT" dirty="0"/>
          </a:p>
          <a:p>
            <a:r>
              <a:rPr lang="es-GT" dirty="0"/>
              <a:t>En junio de 2011, Capgemini ha completado su primera adquisición en China, Praxis Technology, un especialista de la industria de servicios </a:t>
            </a:r>
            <a:r>
              <a:rPr lang="es-GT" dirty="0" smtClean="0"/>
              <a:t>públicos.</a:t>
            </a:r>
            <a:endParaRPr lang="es-GT" dirty="0"/>
          </a:p>
          <a:p>
            <a:r>
              <a:rPr lang="es-GT" dirty="0"/>
              <a:t>En julio de 2011, Capgemini adquirió el proveedor de servicios de TI italiana AIVE </a:t>
            </a:r>
            <a:r>
              <a:rPr lang="es-GT" dirty="0" smtClean="0"/>
              <a:t>Grupo.</a:t>
            </a:r>
            <a:endParaRPr lang="es-GT" dirty="0"/>
          </a:p>
        </p:txBody>
      </p:sp>
    </p:spTree>
    <p:extLst>
      <p:ext uri="{BB962C8B-B14F-4D97-AF65-F5344CB8AC3E}">
        <p14:creationId xmlns:p14="http://schemas.microsoft.com/office/powerpoint/2010/main" val="172450697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p:cTn id="12"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3">
                                            <p:txEl>
                                              <p:pRg st="0" end="0"/>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p:cTn id="17"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9" dur="500"/>
                                        <p:tgtEl>
                                          <p:spTgt spid="3">
                                            <p:txEl>
                                              <p:pRg st="1" end="1"/>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p:cTn id="22"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3"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4" dur="500"/>
                                        <p:tgtEl>
                                          <p:spTgt spid="3">
                                            <p:txEl>
                                              <p:pRg st="2" end="2"/>
                                            </p:txEl>
                                          </p:spTgt>
                                        </p:tgtEl>
                                      </p:cBhvr>
                                    </p:animEffect>
                                  </p:childTnLst>
                                </p:cTn>
                              </p:par>
                              <p:par>
                                <p:cTn id="25" presetID="53" presetClass="entr" presetSubtype="16"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p:cTn id="27"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8"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9" dur="500"/>
                                        <p:tgtEl>
                                          <p:spTgt spid="3">
                                            <p:txEl>
                                              <p:pRg st="3" end="3"/>
                                            </p:txEl>
                                          </p:spTgt>
                                        </p:tgtEl>
                                      </p:cBhvr>
                                    </p:animEffect>
                                  </p:childTnLst>
                                </p:cTn>
                              </p:par>
                              <p:par>
                                <p:cTn id="30" presetID="53" presetClass="entr" presetSubtype="16" fill="hold" nodeType="with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 calcmode="lin" valueType="num">
                                      <p:cBhvr>
                                        <p:cTn id="32"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3"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4" dur="500"/>
                                        <p:tgtEl>
                                          <p:spTgt spid="3">
                                            <p:txEl>
                                              <p:pRg st="4" end="4"/>
                                            </p:txEl>
                                          </p:spTgt>
                                        </p:tgtEl>
                                      </p:cBhvr>
                                    </p:animEffect>
                                  </p:childTnLst>
                                </p:cTn>
                              </p:par>
                              <p:par>
                                <p:cTn id="35" presetID="53" presetClass="entr" presetSubtype="16"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p:cTn id="37"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39" dur="500"/>
                                        <p:tgtEl>
                                          <p:spTgt spid="3">
                                            <p:txEl>
                                              <p:pRg st="5" end="5"/>
                                            </p:txEl>
                                          </p:spTgt>
                                        </p:tgtEl>
                                      </p:cBhvr>
                                    </p:animEffect>
                                  </p:childTnLst>
                                </p:cTn>
                              </p:par>
                              <p:par>
                                <p:cTn id="40" presetID="53" presetClass="entr" presetSubtype="16" fill="hold" nodeType="with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 calcmode="lin" valueType="num">
                                      <p:cBhvr>
                                        <p:cTn id="42"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4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498" y="96033"/>
            <a:ext cx="8596668" cy="1320800"/>
          </a:xfrm>
        </p:spPr>
        <p:txBody>
          <a:bodyPr>
            <a:normAutofit/>
          </a:bodyPr>
          <a:lstStyle/>
          <a:p>
            <a:pPr algn="ctr"/>
            <a:r>
              <a:rPr lang="es-GT" sz="6600" dirty="0" smtClean="0">
                <a:latin typeface="Algerian" panose="04020705040A02060702" pitchFamily="82" charset="0"/>
              </a:rPr>
              <a:t>2014</a:t>
            </a:r>
            <a:endParaRPr lang="es-GT" sz="6600" dirty="0">
              <a:latin typeface="Algerian" panose="04020705040A02060702" pitchFamily="82" charset="0"/>
            </a:endParaRPr>
          </a:p>
        </p:txBody>
      </p:sp>
      <p:sp>
        <p:nvSpPr>
          <p:cNvPr id="3" name="Marcador de contenido 2"/>
          <p:cNvSpPr>
            <a:spLocks noGrp="1"/>
          </p:cNvSpPr>
          <p:nvPr>
            <p:ph idx="1"/>
          </p:nvPr>
        </p:nvSpPr>
        <p:spPr>
          <a:xfrm>
            <a:off x="915329" y="1416833"/>
            <a:ext cx="8596668" cy="1564362"/>
          </a:xfrm>
        </p:spPr>
        <p:txBody>
          <a:bodyPr/>
          <a:lstStyle/>
          <a:p>
            <a:pPr algn="ctr"/>
            <a:r>
              <a:rPr lang="es-GT" dirty="0"/>
              <a:t>En mayo de 2014, Capgemini ha anunciado la adquisición de Sistemas y productos basados en Irving, Texas Estratégicos Corp. (SSP), un proveedor de soluciones para la industria del petróleo y del gas.</a:t>
            </a:r>
          </a:p>
        </p:txBody>
      </p:sp>
      <p:pic>
        <p:nvPicPr>
          <p:cNvPr id="5" name="Imagen 4"/>
          <p:cNvPicPr>
            <a:picLocks noChangeAspect="1"/>
          </p:cNvPicPr>
          <p:nvPr/>
        </p:nvPicPr>
        <p:blipFill>
          <a:blip r:embed="rId2"/>
          <a:stretch>
            <a:fillRect/>
          </a:stretch>
        </p:blipFill>
        <p:spPr>
          <a:xfrm>
            <a:off x="3322233" y="3113414"/>
            <a:ext cx="4556639" cy="3417479"/>
          </a:xfrm>
          <a:prstGeom prst="rect">
            <a:avLst/>
          </a:prstGeom>
        </p:spPr>
      </p:pic>
    </p:spTree>
    <p:extLst>
      <p:ext uri="{BB962C8B-B14F-4D97-AF65-F5344CB8AC3E}">
        <p14:creationId xmlns:p14="http://schemas.microsoft.com/office/powerpoint/2010/main" val="2109339786"/>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34" presetClass="emph" presetSubtype="0" fill="hold" nodeType="clickEffect">
                                  <p:stCondLst>
                                    <p:cond delay="0"/>
                                  </p:stCondLst>
                                  <p:iterate type="lt">
                                    <p:tmPct val="10000"/>
                                  </p:iterate>
                                  <p:childTnLst>
                                    <p:animMotion origin="layout" path="M 0.0 0.0 L 0.0 -0.07213" pathEditMode="relative" ptsTypes="">
                                      <p:cBhvr>
                                        <p:cTn id="10" dur="250" accel="50000" decel="50000" autoRev="1" fill="hold">
                                          <p:stCondLst>
                                            <p:cond delay="0"/>
                                          </p:stCondLst>
                                        </p:cTn>
                                        <p:tgtEl>
                                          <p:spTgt spid="3">
                                            <p:txEl>
                                              <p:pRg st="0" end="0"/>
                                            </p:txEl>
                                          </p:spTgt>
                                        </p:tgtEl>
                                        <p:attrNameLst>
                                          <p:attrName>ppt_x</p:attrName>
                                          <p:attrName>ppt_y</p:attrName>
                                        </p:attrNameLst>
                                      </p:cBhvr>
                                    </p:animMotion>
                                    <p:animRot by="1500000">
                                      <p:cBhvr>
                                        <p:cTn id="11" dur="125" fill="hold">
                                          <p:stCondLst>
                                            <p:cond delay="0"/>
                                          </p:stCondLst>
                                        </p:cTn>
                                        <p:tgtEl>
                                          <p:spTgt spid="3">
                                            <p:txEl>
                                              <p:pRg st="0" end="0"/>
                                            </p:txEl>
                                          </p:spTgt>
                                        </p:tgtEl>
                                        <p:attrNameLst>
                                          <p:attrName>r</p:attrName>
                                        </p:attrNameLst>
                                      </p:cBhvr>
                                    </p:animRot>
                                    <p:animRot by="-1500000">
                                      <p:cBhvr>
                                        <p:cTn id="12" dur="125" fill="hold">
                                          <p:stCondLst>
                                            <p:cond delay="125"/>
                                          </p:stCondLst>
                                        </p:cTn>
                                        <p:tgtEl>
                                          <p:spTgt spid="3">
                                            <p:txEl>
                                              <p:pRg st="0" end="0"/>
                                            </p:txEl>
                                          </p:spTgt>
                                        </p:tgtEl>
                                        <p:attrNameLst>
                                          <p:attrName>r</p:attrName>
                                        </p:attrNameLst>
                                      </p:cBhvr>
                                    </p:animRot>
                                    <p:animRot by="-1500000">
                                      <p:cBhvr>
                                        <p:cTn id="13" dur="125" fill="hold">
                                          <p:stCondLst>
                                            <p:cond delay="250"/>
                                          </p:stCondLst>
                                        </p:cTn>
                                        <p:tgtEl>
                                          <p:spTgt spid="3">
                                            <p:txEl>
                                              <p:pRg st="0" end="0"/>
                                            </p:txEl>
                                          </p:spTgt>
                                        </p:tgtEl>
                                        <p:attrNameLst>
                                          <p:attrName>r</p:attrName>
                                        </p:attrNameLst>
                                      </p:cBhvr>
                                    </p:animRot>
                                    <p:animRot by="1500000">
                                      <p:cBhvr>
                                        <p:cTn id="14" dur="125" fill="hold">
                                          <p:stCondLst>
                                            <p:cond delay="375"/>
                                          </p:stCondLst>
                                        </p:cTn>
                                        <p:tgtEl>
                                          <p:spTgt spid="3">
                                            <p:txEl>
                                              <p:pRg st="0" end="0"/>
                                            </p:txEl>
                                          </p:spTgt>
                                        </p:tgtEl>
                                        <p:attrNameLst>
                                          <p:attrName>r</p:attrName>
                                        </p:attrNameLst>
                                      </p:cBhvr>
                                    </p:animRo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nodeType="clickEffect">
                                  <p:stCondLst>
                                    <p:cond delay="0"/>
                                  </p:stCondLst>
                                  <p:childTnLst>
                                    <p:anim calcmode="lin" valueType="num">
                                      <p:cBhvr additive="base">
                                        <p:cTn id="18" dur="500"/>
                                        <p:tgtEl>
                                          <p:spTgt spid="5"/>
                                        </p:tgtEl>
                                        <p:attrNameLst>
                                          <p:attrName>ppt_x</p:attrName>
                                        </p:attrNameLst>
                                      </p:cBhvr>
                                      <p:tavLst>
                                        <p:tav tm="0">
                                          <p:val>
                                            <p:strVal val="ppt_x"/>
                                          </p:val>
                                        </p:tav>
                                        <p:tav tm="100000">
                                          <p:val>
                                            <p:strVal val="ppt_x"/>
                                          </p:val>
                                        </p:tav>
                                      </p:tavLst>
                                    </p:anim>
                                    <p:anim calcmode="lin" valueType="num">
                                      <p:cBhvr additive="base">
                                        <p:cTn id="19" dur="500"/>
                                        <p:tgtEl>
                                          <p:spTgt spid="5"/>
                                        </p:tgtEl>
                                        <p:attrNameLst>
                                          <p:attrName>ppt_y</p:attrName>
                                        </p:attrNameLst>
                                      </p:cBhvr>
                                      <p:tavLst>
                                        <p:tav tm="0">
                                          <p:val>
                                            <p:strVal val="ppt_y"/>
                                          </p:val>
                                        </p:tav>
                                        <p:tav tm="100000">
                                          <p:val>
                                            <p:strVal val="1+ppt_h/2"/>
                                          </p:val>
                                        </p:tav>
                                      </p:tavLst>
                                    </p:anim>
                                    <p:set>
                                      <p:cBhvr>
                                        <p:cTn id="20"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Faceta">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68</TotalTime>
  <Words>1183</Words>
  <Application>Microsoft Office PowerPoint</Application>
  <PresentationFormat>Panorámica</PresentationFormat>
  <Paragraphs>56</Paragraphs>
  <Slides>12</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12</vt:i4>
      </vt:variant>
    </vt:vector>
  </HeadingPairs>
  <TitlesOfParts>
    <vt:vector size="19" baseType="lpstr">
      <vt:lpstr>Aharoni</vt:lpstr>
      <vt:lpstr>Algerian</vt:lpstr>
      <vt:lpstr>Arial</vt:lpstr>
      <vt:lpstr>Trebuchet MS</vt:lpstr>
      <vt:lpstr>Wingdings</vt:lpstr>
      <vt:lpstr>Wingdings 3</vt:lpstr>
      <vt:lpstr>Faceta</vt:lpstr>
      <vt:lpstr>FUNDACION DE CAPGEMINI</vt:lpstr>
      <vt:lpstr>1973 a 1974 </vt:lpstr>
      <vt:lpstr>1975 a 1981</vt:lpstr>
      <vt:lpstr>1986 a 1991</vt:lpstr>
      <vt:lpstr>1995 a 1996</vt:lpstr>
      <vt:lpstr>2000 a 2002</vt:lpstr>
      <vt:lpstr>2003 a 2004</vt:lpstr>
      <vt:lpstr>2005 a 2006</vt:lpstr>
      <vt:lpstr>2007 a 2008</vt:lpstr>
      <vt:lpstr>2009 a 20010</vt:lpstr>
      <vt:lpstr>2011</vt:lpstr>
      <vt:lpstr>2014</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FUNDACION DE CAPGEMINI</dc:title>
  <dc:creator>Estudiante</dc:creator>
  <cp:lastModifiedBy>Estudiante</cp:lastModifiedBy>
  <cp:revision>8</cp:revision>
  <dcterms:created xsi:type="dcterms:W3CDTF">2018-06-25T21:13:08Z</dcterms:created>
  <dcterms:modified xsi:type="dcterms:W3CDTF">2018-06-25T22:21:24Z</dcterms:modified>
</cp:coreProperties>
</file>